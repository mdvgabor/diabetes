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c348d66eea45b6" /><Relationship Type="http://schemas.openxmlformats.org/officeDocument/2006/relationships/extended-properties" Target="/docProps/app.xml" Id="Ra12806f20d7642b5" /><Relationship Type="http://schemas.openxmlformats.org/officeDocument/2006/relationships/officeDocument" Target="/ppt/presentation.xml" Id="Ra36959ab237545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c3446933f146fe"/>
  </p:sldMasterIdLst>
  <p:notesMasterIdLst>
    <p:notesMasterId xmlns:r="http://schemas.openxmlformats.org/officeDocument/2006/relationships" r:id="R02b7d23cf1dc49d9"/>
  </p:notesMasterIdLst>
  <p:sldIdLst>
    <p:sldId xmlns:r="http://schemas.openxmlformats.org/officeDocument/2006/relationships" id="256" r:id="R97604025af61425b"/>
    <p:sldId xmlns:r="http://schemas.openxmlformats.org/officeDocument/2006/relationships" id="257" r:id="Reed30417bcba4cd8"/>
    <p:sldId xmlns:r="http://schemas.openxmlformats.org/officeDocument/2006/relationships" id="258" r:id="R10ecb60e2bb04ac5"/>
    <p:sldId xmlns:r="http://schemas.openxmlformats.org/officeDocument/2006/relationships" id="259" r:id="R76b555bd96a54a3c"/>
    <p:sldId xmlns:r="http://schemas.openxmlformats.org/officeDocument/2006/relationships" id="260" r:id="Rbb54a87c8c2c4b2f"/>
    <p:sldId xmlns:r="http://schemas.openxmlformats.org/officeDocument/2006/relationships" id="261" r:id="R1c764b578e5c4dcd"/>
    <p:sldId xmlns:r="http://schemas.openxmlformats.org/officeDocument/2006/relationships" id="262" r:id="R345040a9d7334010"/>
    <p:sldId xmlns:r="http://schemas.openxmlformats.org/officeDocument/2006/relationships" id="263" r:id="Rbe4df05ae41d48fd"/>
    <p:sldId xmlns:r="http://schemas.openxmlformats.org/officeDocument/2006/relationships" id="264" r:id="R95c77bfc8fc0460e"/>
    <p:sldId xmlns:r="http://schemas.openxmlformats.org/officeDocument/2006/relationships" id="265" r:id="R9e4db679191f44c2"/>
    <p:sldId xmlns:r="http://schemas.openxmlformats.org/officeDocument/2006/relationships" id="266" r:id="R75c88d3e8c994776"/>
    <p:sldId xmlns:r="http://schemas.openxmlformats.org/officeDocument/2006/relationships" id="267" r:id="Rf4b4db5385174a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3684e79eca4ddc" /><Relationship Type="http://schemas.openxmlformats.org/officeDocument/2006/relationships/slideMaster" Target="/ppt/slideMasters/slideMaster1.xml" Id="Rfdc3446933f146fe" /><Relationship Type="http://schemas.openxmlformats.org/officeDocument/2006/relationships/notesMaster" Target="/ppt/notesMasters/notesMaster1.xml" Id="R02b7d23cf1dc49d9" /><Relationship Type="http://schemas.openxmlformats.org/officeDocument/2006/relationships/presProps" Target="/ppt/presProps.xml" Id="R1571fefb2f814bc8" /><Relationship Type="http://schemas.openxmlformats.org/officeDocument/2006/relationships/tableStyles" Target="/ppt/tableStyles.xml" Id="R2f5cc1a5b6f1437d" /><Relationship Type="http://schemas.openxmlformats.org/officeDocument/2006/relationships/slide" Target="/ppt/slides/slide1.xml" Id="R97604025af61425b" /><Relationship Type="http://schemas.openxmlformats.org/officeDocument/2006/relationships/slide" Target="/ppt/slides/slide2.xml" Id="Reed30417bcba4cd8" /><Relationship Type="http://schemas.openxmlformats.org/officeDocument/2006/relationships/slide" Target="/ppt/slides/slide3.xml" Id="R10ecb60e2bb04ac5" /><Relationship Type="http://schemas.openxmlformats.org/officeDocument/2006/relationships/slide" Target="/ppt/slides/slide4.xml" Id="R76b555bd96a54a3c" /><Relationship Type="http://schemas.openxmlformats.org/officeDocument/2006/relationships/slide" Target="/ppt/slides/slide5.xml" Id="Rbb54a87c8c2c4b2f" /><Relationship Type="http://schemas.openxmlformats.org/officeDocument/2006/relationships/slide" Target="/ppt/slides/slide6.xml" Id="R1c764b578e5c4dcd" /><Relationship Type="http://schemas.openxmlformats.org/officeDocument/2006/relationships/slide" Target="/ppt/slides/slide7.xml" Id="R345040a9d7334010" /><Relationship Type="http://schemas.openxmlformats.org/officeDocument/2006/relationships/slide" Target="/ppt/slides/slide8.xml" Id="Rbe4df05ae41d48fd" /><Relationship Type="http://schemas.openxmlformats.org/officeDocument/2006/relationships/slide" Target="/ppt/slides/slide9.xml" Id="R95c77bfc8fc0460e" /><Relationship Type="http://schemas.openxmlformats.org/officeDocument/2006/relationships/slide" Target="/ppt/slides/slide10.xml" Id="R9e4db679191f44c2" /><Relationship Type="http://schemas.openxmlformats.org/officeDocument/2006/relationships/slide" Target="/ppt/slides/slide11.xml" Id="R75c88d3e8c994776" /><Relationship Type="http://schemas.openxmlformats.org/officeDocument/2006/relationships/slide" Target="/ppt/slides/slide12.xml" Id="Rf4b4db5385174a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eacfe5139141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3bb9e39d8240b9" /><Relationship Type="http://schemas.openxmlformats.org/officeDocument/2006/relationships/notesMaster" Target="/ppt/notesMasters/notesMaster1.xml" Id="R05560af8317a40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2d9e9e55ae421d" /><Relationship Type="http://schemas.openxmlformats.org/officeDocument/2006/relationships/notesMaster" Target="/ppt/notesMasters/notesMaster1.xml" Id="R8d048295a02b46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895bf0ab404c2a" /><Relationship Type="http://schemas.openxmlformats.org/officeDocument/2006/relationships/notesMaster" Target="/ppt/notesMasters/notesMaster1.xml" Id="Ra184e67b56c044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f31bdc7bc54504" /><Relationship Type="http://schemas.openxmlformats.org/officeDocument/2006/relationships/notesMaster" Target="/ppt/notesMasters/notesMaster1.xml" Id="Re8cadfe9ca1c43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879434ff81445e" /><Relationship Type="http://schemas.openxmlformats.org/officeDocument/2006/relationships/notesMaster" Target="/ppt/notesMasters/notesMaster1.xml" Id="R6b8a92022e7a48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8b371cba204ebd" /><Relationship Type="http://schemas.openxmlformats.org/officeDocument/2006/relationships/notesMaster" Target="/ppt/notesMasters/notesMaster1.xml" Id="R09ded9cd739e4c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32c951c62c4cbb" /><Relationship Type="http://schemas.openxmlformats.org/officeDocument/2006/relationships/notesMaster" Target="/ppt/notesMasters/notesMaster1.xml" Id="Ra620a3dceb0f4a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432cd7bf604b33" /><Relationship Type="http://schemas.openxmlformats.org/officeDocument/2006/relationships/notesMaster" Target="/ppt/notesMasters/notesMaster1.xml" Id="Rd642cfdd9e6044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dc37639a3b4217" /><Relationship Type="http://schemas.openxmlformats.org/officeDocument/2006/relationships/notesMaster" Target="/ppt/notesMasters/notesMaster1.xml" Id="R367a2a94fa104c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a2009c9c2247b8" /><Relationship Type="http://schemas.openxmlformats.org/officeDocument/2006/relationships/notesMaster" Target="/ppt/notesMasters/notesMaster1.xml" Id="R6a6e2487c30240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54ca16dfd14c62" /><Relationship Type="http://schemas.openxmlformats.org/officeDocument/2006/relationships/notesMaster" Target="/ppt/notesMasters/notesMaster1.xml" Id="R73b205c0e97d4e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a66308b6b64c72" /><Relationship Type="http://schemas.openxmlformats.org/officeDocument/2006/relationships/notesMaster" Target="/ppt/notesMasters/notesMaster1.xml" Id="R5af65a0063b341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Fedlap: téma, előadók, intézmény és FAKT logó. Röviden mondd el, hogy prediktív modell-összehasonlításról van szó.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Itt 20-30 másodpercben mondd el a bemutató logikáját. Feladatmegosztást nem kell külön említeni.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Hangsúly: nem klinikai döntéstámogató rendszer, hanem módszertani modell-összehasonlítás.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Itt érdemes elmondani, hogy a modell nem univerzális diabéteszmodell, hanem egy konkrét adatbázison mért összehasonlítás.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Magyarázd el a szivárgásmentes logikát: a mediánok és a skálázás nem láthatja a tesztadatokat.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Itt ne algoritmustankönyvet tarts: a lényeg a választási kompromisszum.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Mutasd meg, hogy nincs drámai győztes. A modellek közel vannak egymáshoz.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Kiemelés: egészségügyben nem mindegy, hogy téves negatív vagy téves pozitív hibát vállalunk.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Itt az értelmezhetőség előnyét hangsúlyozd: a logisztikus regresszió oktatási és magyarázó célra nagyon védhető.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Kösd össze az előző diával: a logisztikus és faalapú modellek hasonló fő változókat találtak.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Záró üzenet: döntési céltól függ a modellválasztás. Ne hirdess egyetlen győztest.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Utolsó dia: nem csak linkek, hanem teljes hivatkozási tételek rövidített formában.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e04f1a1464e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0c9a59253049b1" /><Relationship Type="http://schemas.openxmlformats.org/officeDocument/2006/relationships/slideLayout" Target="/ppt/slideLayouts/slideLayout1.xml" Id="Rac8cb6a443d2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8cb6a443d2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f0eff6c304c11" /><Relationship Type="http://schemas.openxmlformats.org/officeDocument/2006/relationships/image" Target="/ppt/media/image.jpeg" Id="Rfe030d39d44748b6" /><Relationship Type="http://schemas.openxmlformats.org/officeDocument/2006/relationships/notesSlide" Target="/ppt/notesSlides/notesSlide1.xml" Id="R80565e65309d4a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2dd840d8f446d" /><Relationship Type="http://schemas.openxmlformats.org/officeDocument/2006/relationships/notesSlide" Target="/ppt/notesSlides/notesSlide2.xml" Id="R93383f18d26440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afcc0e38940d1" /><Relationship Type="http://schemas.openxmlformats.org/officeDocument/2006/relationships/notesSlide" Target="/ppt/notesSlides/notesSlide3.xml" Id="R8ec3d8b6372641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8da73fe314fc5" /><Relationship Type="http://schemas.openxmlformats.org/officeDocument/2006/relationships/notesSlide" Target="/ppt/notesSlides/notesSlide4.xml" Id="R05e57604d78443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9dea534ab40c5" /><Relationship Type="http://schemas.openxmlformats.org/officeDocument/2006/relationships/notesSlide" Target="/ppt/notesSlides/notesSlide5.xml" Id="R182d6a3ad9434f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fa0882f164375" /><Relationship Type="http://schemas.openxmlformats.org/officeDocument/2006/relationships/notesSlide" Target="/ppt/notesSlides/notesSlide6.xml" Id="R17abd1cdabff4b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c891456804bda" /><Relationship Type="http://schemas.openxmlformats.org/officeDocument/2006/relationships/chart" Target="/ppt/slides/charts/chart1.xml" Id="Rdd20abc676ec4880" /><Relationship Type="http://schemas.openxmlformats.org/officeDocument/2006/relationships/notesSlide" Target="/ppt/notesSlides/notesSlide7.xml" Id="R3e367c78fba141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42af3d7954e1f" /><Relationship Type="http://schemas.openxmlformats.org/officeDocument/2006/relationships/image" Target="/ppt/media/image.png" Id="Rf75eb770c1294b9e" /><Relationship Type="http://schemas.openxmlformats.org/officeDocument/2006/relationships/image" Target="/ppt/media/image2.png" Id="R2a0028a626d24c84" /><Relationship Type="http://schemas.openxmlformats.org/officeDocument/2006/relationships/notesSlide" Target="/ppt/notesSlides/notesSlide8.xml" Id="R9534b11e829748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fe7dafa5e4552" /><Relationship Type="http://schemas.openxmlformats.org/officeDocument/2006/relationships/image" Target="/ppt/media/image3.png" Id="Rb7ca2ad61e8440d5" /><Relationship Type="http://schemas.openxmlformats.org/officeDocument/2006/relationships/notesSlide" Target="/ppt/notesSlides/notesSlide9.xml" Id="R8057ac0197b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f44955db24154" /><Relationship Type="http://schemas.openxmlformats.org/officeDocument/2006/relationships/image" Target="/ppt/media/image4.png" Id="R88ac022eef814213" /><Relationship Type="http://schemas.openxmlformats.org/officeDocument/2006/relationships/notesSlide" Target="/ppt/notesSlides/notesSlide10.xml" Id="Rf293408fe7f941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c4f1bd65244f3" /><Relationship Type="http://schemas.openxmlformats.org/officeDocument/2006/relationships/notesSlide" Target="/ppt/notesSlides/notesSlide11.xml" Id="Rf6412fda89c542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b8a10d3f348a6" /><Relationship Type="http://schemas.openxmlformats.org/officeDocument/2006/relationships/notesSlide" Target="/ppt/notesSlides/notesSlide12.xml" Id="R151fcebf941c4559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ROC AUC</c:v>
          </c:tx>
          <c:spPr>
            <a:solidFill xmlns:a="http://schemas.openxmlformats.org/drawingml/2006/main">
              <a:srgbClr val="0E6B3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LogReg</c:v>
              </c:pt>
              <c:pt idx="1">
                <c:v>Random Forest</c:v>
              </c:pt>
              <c:pt idx="2">
                <c:v>XGBoost</c:v>
              </c:pt>
              <c:pt idx="3">
                <c:v>Grad. Boosting</c:v>
              </c:pt>
            </c:strLit>
          </c:cat>
          <c:val>
            <c:numLit>
              <c:formatCode>General</c:formatCode>
              <c:ptCount val="4"/>
              <c:pt idx="0">
                <c:v>0.8115</c:v>
              </c:pt>
              <c:pt idx="1">
                <c:v>0.8194</c:v>
              </c:pt>
              <c:pt idx="2">
                <c:v>0.8163</c:v>
              </c:pt>
              <c:pt idx="3">
                <c:v>0.8185</c:v>
              </c:pt>
            </c:numLit>
          </c:val>
        </c:ser>
        <c:ser>
          <c:idx val="1"/>
          <c:order val="1"/>
          <c:tx>
            <c:v>Accuracy</c:v>
          </c:tx>
          <c:spPr>
            <a:solidFill xmlns:a="http://schemas.openxmlformats.org/drawingml/2006/main">
              <a:srgbClr val="276B9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LogReg</c:v>
              </c:pt>
              <c:pt idx="1">
                <c:v>Random Forest</c:v>
              </c:pt>
              <c:pt idx="2">
                <c:v>XGBoost</c:v>
              </c:pt>
              <c:pt idx="3">
                <c:v>Grad. Boosting</c:v>
              </c:pt>
            </c:strLit>
          </c:cat>
          <c:val>
            <c:numLit>
              <c:formatCode>General</c:formatCode>
              <c:ptCount val="4"/>
              <c:pt idx="0">
                <c:v>0.7338</c:v>
              </c:pt>
              <c:pt idx="1">
                <c:v>0.7468</c:v>
              </c:pt>
              <c:pt idx="2">
                <c:v>0.7273</c:v>
              </c:pt>
              <c:pt idx="3">
                <c:v>0.7403</c:v>
              </c:pt>
            </c:numLit>
          </c:val>
        </c:ser>
        <c:ser>
          <c:idx val="2"/>
          <c:order val="2"/>
          <c:tx>
            <c:v>F1</c:v>
          </c:tx>
          <c:spPr>
            <a:solidFill xmlns:a="http://schemas.openxmlformats.org/drawingml/2006/main">
              <a:srgbClr val="D58A2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LogReg</c:v>
              </c:pt>
              <c:pt idx="1">
                <c:v>Random Forest</c:v>
              </c:pt>
              <c:pt idx="2">
                <c:v>XGBoost</c:v>
              </c:pt>
              <c:pt idx="3">
                <c:v>Grad. Boosting</c:v>
              </c:pt>
            </c:strLit>
          </c:cat>
          <c:val>
            <c:numLit>
              <c:formatCode>General</c:formatCode>
              <c:ptCount val="4"/>
              <c:pt idx="0">
                <c:v>0.6496</c:v>
              </c:pt>
              <c:pt idx="1">
                <c:v>0.6723</c:v>
              </c:pt>
              <c:pt idx="2">
                <c:v>0.6667</c:v>
              </c:pt>
              <c:pt idx="3">
                <c:v>0.6774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5314E1-1B17-475F-BFC7-FD698F0B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87FCF-794A-475D-B84A-F5DE7759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D91C4-CB8D-434C-B68D-70C21A98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36671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1831B-B7A6-48A6-8819-D00A5E12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CB62"/>
                </a:solidFill>
              </a:defRPr>
            </a:pPr>
            <a:r>
              <a:rPr sz="1050" b="1">
                <a:solidFill>
                  <a:srgbClr val="7CCB62"/>
                </a:solidFill>
              </a:rPr>
              <a:t>Budapesti Corvinus Egyetem | FAKT Szakkollégium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DBFB7-F0F4-4C53-9F57-50B39ED6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Cukorbetegség előrejelzése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3BC02-16E4-411C-BF2C-2B911B34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CEAE2"/>
                </a:solidFill>
              </a:defRPr>
            </a:pPr>
            <a:r>
              <a:rPr sz="1875">
                <a:solidFill>
                  <a:srgbClr val="DCEAE2"/>
                </a:solidFill>
              </a:rPr>
              <a:t>Logisztikus regresszióval és faalapú gépi tanulási modellekkel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A9C6C-AE9E-42E9-AC70-D7615F92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Baki Zsombor · Medvegy Gábor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32954-0F66-43D1-91D1-F054A07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FD7C8"/>
                </a:solidFill>
              </a:defRPr>
            </a:pPr>
            <a:r>
              <a:rPr sz="1200">
                <a:solidFill>
                  <a:srgbClr val="BFD7C8"/>
                </a:solidFill>
              </a:rPr>
              <a:t>2026. június 17.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CD541-0597-4984-B755-BF722D6D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476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CB62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5A183-34AF-4C93-9DEC-8FDDC0DA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29225"/>
            <a:ext cx="2209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C15"/>
                </a:solidFill>
              </a:defRPr>
            </a:pPr>
            <a:r>
              <a:rPr sz="975" b="1">
                <a:solidFill>
                  <a:srgbClr val="081C15"/>
                </a:solidFill>
              </a:rPr>
              <a:t>Egészségügyi statisztika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30d39d44748b6"/>
          <a:stretch xmlns:a="http://schemas.openxmlformats.org/drawingml/2006/main"/>
        </p:blipFill>
        <p:spPr>
          <a:xfrm xmlns:a="http://schemas.openxmlformats.org/drawingml/2006/main">
            <a:off x="7600950" y="152400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0E489-0654-486F-B373-45212D14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BFD7C8"/>
                </a:solidFill>
              </a:defRPr>
            </a:pPr>
            <a:r>
              <a:rPr sz="750">
                <a:solidFill>
                  <a:srgbClr val="BFD7C8"/>
                </a:solidFill>
              </a:rPr>
              <a:t>Forrás: saját szerkesztés; FAKT logó a beadandó fedlapjáról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7C4F3-3AD3-48F8-8450-F25302E0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CEAE2"/>
                </a:solidFill>
              </a:defRPr>
            </a:pPr>
            <a:r>
              <a:rPr sz="900" b="1">
                <a:solidFill>
                  <a:srgbClr val="DCEAE2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7357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769FB5-5B22-488C-AEF4-676F60A8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542F0-F2C8-4785-AEDE-611AD007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F8DE9-223C-4508-8430-FE83E175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C32BE-C522-4168-BD54-C6F86EE3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EC125-06DC-4C34-8ADE-D3085BB8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Áttekintés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AC49F-8C61-405C-872F-A02C09E6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Menetrend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E5595-A487-4AF5-A1EF-E97A0D36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94BEE-34E0-4A5C-8675-A80EABC8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74A78-9222-4E30-AB9A-AED38803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81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5AC3D-3544-480F-892C-CEB496FE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050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932C2-5357-4155-A057-9987BC8B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62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1C15"/>
                </a:solidFill>
              </a:defRPr>
            </a:pPr>
            <a:r>
              <a:rPr sz="1950" b="1">
                <a:solidFill>
                  <a:srgbClr val="081C15"/>
                </a:solidFill>
              </a:rPr>
              <a:t>Téma és adatbázis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27082-48DF-468F-BF9D-DE63EFAB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03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Miért érdekes a cukorbetegség-előrejelzés, és milyen mintán dolgozunk?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B330C-0073-4F92-8238-2F96ADF6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7625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32569-B045-4983-95BE-20E249DC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3CFB0-D2A8-4119-A226-FE7E9D57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050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38B21-8B6B-4992-9A44-356C9F2F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1C15"/>
                </a:solidFill>
              </a:defRPr>
            </a:pPr>
            <a:r>
              <a:rPr sz="1950" b="1">
                <a:solidFill>
                  <a:srgbClr val="081C15"/>
                </a:solidFill>
              </a:rPr>
              <a:t>Módszertan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6E0CB-55CD-459B-B392-5184BF06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03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Adattisztítás, szivárgásmentes pipeline, keresztvalidáció és metrikák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6D4A3-CD83-4DC1-A111-C9CC7F0D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47625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20612-4534-47A0-A450-5F4F830F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C67198-361D-49A4-9AD4-309D448E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767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F5E49-3854-4068-AAC8-874DDB90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338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1C15"/>
                </a:solidFill>
              </a:defRPr>
            </a:pPr>
            <a:r>
              <a:rPr sz="1950" b="1">
                <a:solidFill>
                  <a:srgbClr val="081C15"/>
                </a:solidFill>
              </a:rPr>
              <a:t>Eredmények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BC231-4EBF-4AEA-AF6C-889F9B3B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ROC AUC, accuracy, F1 és konfúziós mátrix alapján összevetett modellek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7243D-2715-4AE8-90C8-859D4632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47625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FEA66-47A8-4ACD-969A-0D8351E8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8FF172-8440-4321-85D8-BD1C09B2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767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1F09DF-61DC-483C-B2FE-38E3B39A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338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1C15"/>
                </a:solidFill>
              </a:defRPr>
            </a:pPr>
            <a:r>
              <a:rPr sz="1950" b="1">
                <a:solidFill>
                  <a:srgbClr val="081C15"/>
                </a:solidFill>
              </a:rPr>
              <a:t>Értelmezés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706ED3-339A-4A44-9A0D-CADC57AD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720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Fontos prediktorok, gyakorlati modellválasztás és korlátok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783B72-57D8-471D-A090-5A250319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prezentációs szempontrendszer; saját szerkesztés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99C598-9A09-4943-BE13-5B365436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55003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3455F8-2C8D-4280-8540-52575A5A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80477-E401-45D9-AE00-1EDFD2E0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11E12-E223-41EB-B892-6773E5B8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0CD4A-6FE1-479C-A917-F4379E9E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AEA48-448B-43BC-8529-E6DAC27F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Téma felvezetése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BA079-B419-492E-BE7A-4C531CF1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Kutatási kérdés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FA4B0-34AA-4029-8A90-6AAA6161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11BBF-AA40-48BF-B194-82228C8F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1C15"/>
                </a:solidFill>
              </a:defRPr>
            </a:pPr>
            <a:r>
              <a:rPr sz="2400" b="1">
                <a:solidFill>
                  <a:srgbClr val="081C15"/>
                </a:solidFill>
              </a:rPr>
              <a:t>Javítanak-e érdemben a komplex faalapú modellek egy egyszerűbb, jól értelmezhető logisztikus regresszióhoz képest?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338FB-76A6-4195-91C0-268AD856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4003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2FF06-78A1-4E56-A12D-5B309E78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Megfigyelés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48C34-7CC6-453E-BC45-10F743EE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768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26BFD-7191-48DE-83A4-122994D5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rekord a Pima Indians Diabetes adatbázisban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3F8F4-499C-4F21-A36B-51E2F99D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24003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D082E-C11A-4941-8328-9D8438B4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90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Változó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B864A-FECC-4BDE-976C-790F5780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766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76B9A"/>
                </a:solidFill>
              </a:defRPr>
            </a:pPr>
            <a:r>
              <a:rPr sz="2850" b="1">
                <a:solidFill>
                  <a:srgbClr val="276B9A"/>
                </a:solidFill>
              </a:rPr>
              <a:t>8+1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B3B42-DCDD-4A93-AE34-5F2FB73A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8147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8 magyarázó változó és bináris Outcome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44D76-44D8-4FEC-A638-53AA38C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24003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8A567-22EC-4532-B819-2B4DD8C4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Modellek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341F7-A559-4F54-B9A7-9B61D939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58A22"/>
                </a:solidFill>
              </a:defRPr>
            </a:pPr>
            <a:r>
              <a:rPr sz="2850" b="1">
                <a:solidFill>
                  <a:srgbClr val="D58A22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1FBA8-622B-4560-8AA3-A3CBF003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8147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logisztikus regresszió + három faalapú modell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9B5D5-BEFC-4386-BDF7-C78866AD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19450"/>
            <a:ext cx="24003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12C77-7935-4AE2-883E-9025A3AB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90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Cél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772C5-5A4F-43C8-A64A-B439FADA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766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értékelés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91FA2-B93B-44C0-84C0-F717D033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8147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teljesítmény és értelmezhetőség együtt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BECFA-2941-4ED0-B7BF-B038F810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egstat.docx; Smith és mtsai. (1988); NIDDK (1990)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888A9C-B7FE-4334-BA91-A7E861FE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1885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F8FE40-3855-4055-BFEA-6EE5B40A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38A32-527C-4879-A6C4-7DBD9016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1947F-74FB-4539-B525-150EDC3E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429C5-D2A7-40A0-972E-7AF9B23A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F1043-D944-47D9-929F-AE15ADAE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Szakirodalmi háttér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4FA8C-82D3-4C61-97C0-516E421A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Adatok: erős modell, szűk minta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6EB7A-479D-463C-8123-D191721F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FDCB2-91FF-4273-A37F-411145AC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4762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7D4DA-A346-43C8-BF02-ABF3D24C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1C15"/>
                </a:solidFill>
              </a:defRPr>
            </a:pPr>
            <a:r>
              <a:rPr sz="1875" b="1">
                <a:solidFill>
                  <a:srgbClr val="081C15"/>
                </a:solidFill>
              </a:rPr>
              <a:t>Adatprofil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BB820-0057-47CA-B96D-BA4AB5FB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6B3A"/>
                </a:solidFill>
              </a:defRPr>
            </a:pPr>
            <a:r>
              <a:rPr sz="1650" b="1">
                <a:solidFill>
                  <a:srgbClr val="0E6B3A"/>
                </a:solidFill>
              </a:rPr>
              <a:t>Pima Indians Diabetes Database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B7FEA-2C3F-4E9F-B3A4-602015C0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3619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C2B27"/>
                </a:solidFill>
              </a:defRPr>
            </a:pPr>
            <a:r>
              <a:rPr sz="1725">
                <a:solidFill>
                  <a:srgbClr val="1C2B27"/>
                </a:solidFill>
              </a:rPr>
              <a:t>768 megfigyelés</a:t>
            </a:r>
          </a:p>
          <a:p xmlns:a="http://schemas.openxmlformats.org/drawingml/2006/main">
            <a:pPr>
              <a:defRPr sz="1725">
                <a:solidFill>
                  <a:srgbClr val="1C2B27"/>
                </a:solidFill>
              </a:defRPr>
            </a:pPr>
            <a:r>
              <a:rPr sz="1725">
                <a:solidFill>
                  <a:srgbClr val="1C2B27"/>
                </a:solidFill>
              </a:rPr>
              <a:t>8 magyarázó változó + Outcome</a:t>
            </a:r>
          </a:p>
          <a:p xmlns:a="http://schemas.openxmlformats.org/drawingml/2006/main">
            <a:pPr>
              <a:defRPr sz="1725">
                <a:solidFill>
                  <a:srgbClr val="1C2B27"/>
                </a:solidFill>
              </a:defRPr>
            </a:pPr>
            <a:r>
              <a:rPr sz="1725">
                <a:solidFill>
                  <a:srgbClr val="1C2B27"/>
                </a:solidFill>
              </a:rPr>
              <a:t>Célváltozó: cukorbeteg / nem cukorbeteg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9A023-6701-40B7-B2F6-081B5CCB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24CE0-5B48-4E34-B02B-5EAB1B49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85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1C15"/>
                </a:solidFill>
              </a:defRPr>
            </a:pPr>
            <a:r>
              <a:rPr sz="2100" b="1">
                <a:solidFill>
                  <a:srgbClr val="081C15"/>
                </a:solidFill>
              </a:rPr>
              <a:t>A minta értelmezése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A9A16-1B40-438F-84D3-8420B38A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Legalább 21 éves, Pima származású nők</a:t>
            </a:r>
          </a:p>
          <a:p xmlns:a="http://schemas.openxmlformats.org/drawingml/2006/main">
            <a:pPr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Phoenix, Arizona környéke</a:t>
            </a:r>
          </a:p>
          <a:p xmlns:a="http://schemas.openxmlformats.org/drawingml/2006/main">
            <a:pPr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Történetileg kiemelten vizsgált diabéteszkockázat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BC257-FD3B-44EC-A8AD-EFB93EC5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6B3A"/>
                </a:solidFill>
              </a:defRPr>
            </a:pPr>
            <a:r>
              <a:rPr sz="1500" b="1">
                <a:solidFill>
                  <a:srgbClr val="0E6B3A"/>
                </a:solidFill>
              </a:rPr>
              <a:t>Nem általános népességi minta:</a:t>
            </a:r>
          </a:p>
          <a:p xmlns:a="http://schemas.openxmlformats.org/drawingml/2006/main">
            <a:pPr>
              <a:defRPr sz="1500" b="1">
                <a:solidFill>
                  <a:srgbClr val="0E6B3A"/>
                </a:solidFill>
              </a:defRPr>
            </a:pPr>
            <a:r>
              <a:rPr sz="1500" b="1">
                <a:solidFill>
                  <a:srgbClr val="0E6B3A"/>
                </a:solidFill>
              </a:rPr>
              <a:t>az eredmények csak óvatosan vihetők át más csoportokra.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C45F3-ACB8-4C9A-9098-3BAB9996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9810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DD"/>
          </a:solidFill>
          <a:ln xmlns:a="http://schemas.openxmlformats.org/drawingml/2006/main" w="0">
            <a:solidFill>
              <a:srgbClr val="D6E6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B796D-EDB7-410C-97DB-713587E6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1C15"/>
                </a:solidFill>
              </a:defRPr>
            </a:pPr>
            <a:r>
              <a:rPr sz="1650" b="1">
                <a:solidFill>
                  <a:srgbClr val="081C15"/>
                </a:solidFill>
              </a:rPr>
              <a:t>Miért nem elég csak a modellpontosságot nézni?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633E8-8E87-41B7-8966-B91172B2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6B3A"/>
                </a:solidFill>
              </a:defRPr>
            </a:pPr>
            <a:r>
              <a:rPr sz="1425" b="1">
                <a:solidFill>
                  <a:srgbClr val="0E6B3A"/>
                </a:solidFill>
              </a:rPr>
              <a:t>1.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95D09-6A38-4C01-8504-2741E74D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1C15"/>
                </a:solidFill>
              </a:defRPr>
            </a:pPr>
            <a:r>
              <a:rPr sz="1350" b="1">
                <a:solidFill>
                  <a:srgbClr val="081C15"/>
                </a:solidFill>
              </a:rPr>
              <a:t>Populációs sajátosság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D4F6E-DAA7-4F1C-8501-53999DFA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388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1C2B27"/>
                </a:solidFill>
              </a:defRPr>
            </a:pPr>
            <a:r>
              <a:rPr sz="1088">
                <a:solidFill>
                  <a:srgbClr val="1C2B27"/>
                </a:solidFill>
              </a:rPr>
              <a:t>A Pima minta speciális egészségügyi és demográfiai háttérrel rendelkezik.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C61836-AA21-48D6-8FFB-65390D3F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10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6B3A"/>
                </a:solidFill>
              </a:defRPr>
            </a:pPr>
            <a:r>
              <a:rPr sz="1425" b="1">
                <a:solidFill>
                  <a:srgbClr val="0E6B3A"/>
                </a:solidFill>
              </a:rPr>
              <a:t>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9DBB7-668B-44F4-AB3C-2B83A53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91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1C15"/>
                </a:solidFill>
              </a:defRPr>
            </a:pPr>
            <a:r>
              <a:rPr sz="1350" b="1">
                <a:solidFill>
                  <a:srgbClr val="081C15"/>
                </a:solidFill>
              </a:rPr>
              <a:t>Környezeti tényezők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D7C0A8-646B-4B94-8D78-EDF244E7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388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1C2B27"/>
                </a:solidFill>
              </a:defRPr>
            </a:pPr>
            <a:r>
              <a:rPr sz="1088">
                <a:solidFill>
                  <a:srgbClr val="1C2B27"/>
                </a:solidFill>
              </a:rPr>
              <a:t>Az életmód, étrend és fizikai aktivitás befolyásolhatja a diabétesz gyakoriságát.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A4AAA-7ED8-4392-91A5-9220098F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410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6B3A"/>
                </a:solidFill>
              </a:defRPr>
            </a:pPr>
            <a:r>
              <a:rPr sz="1425" b="1">
                <a:solidFill>
                  <a:srgbClr val="0E6B3A"/>
                </a:solidFill>
              </a:rPr>
              <a:t>3.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4CEA88-69C5-4166-8313-E8DECCCF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91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1C15"/>
                </a:solidFill>
              </a:defRPr>
            </a:pPr>
            <a:r>
              <a:rPr sz="1350" b="1">
                <a:solidFill>
                  <a:srgbClr val="081C15"/>
                </a:solidFill>
              </a:rPr>
              <a:t>Általánosíthatóság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1A68C-52C8-4607-890E-94124D93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388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1C2B27"/>
                </a:solidFill>
              </a:defRPr>
            </a:pPr>
            <a:r>
              <a:rPr sz="1088">
                <a:solidFill>
                  <a:srgbClr val="1C2B27"/>
                </a:solidFill>
              </a:rPr>
              <a:t>Más korú, nemű vagy etnikai csoporton külön validációra lenne szükség.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E954F6-FC66-4B53-8FAF-287B6260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NIDDK (1990); Smith és mtsai. (1988); Schulz és mtsai. (2006)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C9AC85-D5E3-43A6-9BEC-F6C10FE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31418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11E376-9612-46CC-A2E1-B7A067A2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785CE-CE7A-4CD1-8BCB-7A7889BE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09D84-3C76-4D11-B1CD-6CF541F2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DF01B-B333-40D5-8568-44F1241C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A880E-CE79-4B64-902A-5B9DF91A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Pipeline és validáció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226EC-8E83-4089-B9BB-AFCCBDE7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Módszertani keret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4A5B9-AF38-4CD2-A9D4-CE90816A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5D2BB-FE6D-443B-A682-834E7FD2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84785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2BF34-13C9-48F1-8D46-2DA0F278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Nyers adatok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0A1E3-E335-41EF-80AA-EC5F6EFE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768 megfigyelés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5148F-E735-48CD-A9E5-5EFCC853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86179-B88E-45E8-9233-3FE2C9DD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05000"/>
            <a:ext cx="184785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D6CD5-F891-4D8C-B48B-FC53911E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71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Nullák kezelése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66F9F-716B-4955-A20D-DFD2F749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479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medián csak tanító részen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D3000-C3D7-4D28-903F-56972DED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951C8-AA1B-493E-AC79-C6003479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184785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F7D29-A771-4B2B-A4E9-F693D6B0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Modellek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2F7FB-ACBC-45FE-8557-74626598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479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LR, RF, XGBoost, GB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FE691-694C-41CE-97EE-5A8AD4AD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CDBFA-E76F-4D9E-83C5-29AAC6DE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905000"/>
            <a:ext cx="184785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09248-F061-463C-9632-2ED568E9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71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5-fold CV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DFE62-D77E-4661-8DDC-FEEAC978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479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rétegzett keresztvalidáció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1B97D-9AC6-46F5-8A29-13C94DDC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717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0B986-86E3-4CEA-869A-F62F6845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05000"/>
            <a:ext cx="184785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27FFED-7486-4EA6-AED9-39989F53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71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Teszt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C29BF-0DE8-4DEC-B361-657D68E5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elkülönített 20%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095B1F-5722-4D56-BA1C-D0FBD64B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1C15"/>
                </a:solidFill>
              </a:defRPr>
            </a:pPr>
            <a:r>
              <a:rPr sz="2025" b="1">
                <a:solidFill>
                  <a:srgbClr val="081C15"/>
                </a:solidFill>
              </a:rPr>
              <a:t>Fő optimalizálási mutató: ROC AUC</a:t>
            </a:r>
          </a:p>
          <a:p xmlns:a="http://schemas.openxmlformats.org/drawingml/2006/main">
            <a:pPr>
              <a:defRPr sz="2025" b="1">
                <a:solidFill>
                  <a:srgbClr val="081C15"/>
                </a:solidFill>
              </a:defRPr>
            </a:pPr>
            <a:r>
              <a:rPr sz="2025" b="1">
                <a:solidFill>
                  <a:srgbClr val="081C15"/>
                </a:solidFill>
              </a:rPr>
              <a:t>Kiegészítő mutatók: accuracy, F1, konfúziós mátrix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A32369-A365-47E1-8FFD-32ECF535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C2B27"/>
                </a:solidFill>
              </a:defRPr>
            </a:pPr>
            <a:r>
              <a:rPr sz="1725">
                <a:solidFill>
                  <a:srgbClr val="1C2B27"/>
                </a:solidFill>
              </a:rPr>
              <a:t>A cél az volt, hogy a modellek közötti különbség ne eltérő előfeldolgozásból származzon.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362CCD-0A1A-4CFA-9F24-EC96169C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egstat.docx; Kuhn és Johnson (2013); Fawcett (2006)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407A3D-1808-4214-87ED-25EC2FD6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141488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9E09D6-7182-4942-A08E-D8A3CFAD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1B6AC-06B8-486F-8866-64A17118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A2994-5F4D-4738-BE36-8A2D401F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744BE-0CA5-4AB4-AF93-7B056CD5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208ED-0D2D-4CB4-BD86-33D25C4F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Alkalmazott modellek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10172-5550-4798-B43F-770A62D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Négy modell, eltérő kompromisszumok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458D7-177E-47D5-BC2B-D166D5A8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A7BA3-84C1-4E2E-859B-4B7A0938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98107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E8B4F-F08B-438E-8F5A-1E603583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71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Logisztikus regresszió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74E6A-3DF8-4FD2-B8C7-7DCBD701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lineáris, gyors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217D4-3F9F-4366-AC07-959254A7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E6B3A"/>
                </a:solidFill>
              </a:defRPr>
            </a:pPr>
            <a:r>
              <a:rPr sz="1575" b="1">
                <a:solidFill>
                  <a:srgbClr val="0E6B3A"/>
                </a:solidFill>
              </a:rPr>
              <a:t>jól értelmezhető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179E3-942D-498A-8B31-6C1E1398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98107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30AD3-797A-45B3-902D-A8136A35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Random Forest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41F36-C3DB-45C0-AF1F-203BDC39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sok döntési 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5A8EB-ED05-43FB-9AE9-34E4FA48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76B9A"/>
                </a:solidFill>
              </a:defRPr>
            </a:pPr>
            <a:r>
              <a:rPr sz="1575" b="1">
                <a:solidFill>
                  <a:srgbClr val="276B9A"/>
                </a:solidFill>
              </a:rPr>
              <a:t>robusztus, stabil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92174-8F13-46BD-908D-C8BAB516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98107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49791-3445-4484-8B65-4482B13E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XGBoost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CCE4F-B2FB-4DB3-B880-95841D3B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szekvenciális boosting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15FE4-39E5-462A-AE0C-70A9559A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76B9A"/>
                </a:solidFill>
              </a:defRPr>
            </a:pPr>
            <a:r>
              <a:rPr sz="1575" b="1">
                <a:solidFill>
                  <a:srgbClr val="276B9A"/>
                </a:solidFill>
              </a:rPr>
              <a:t>erős, de érzékenyebb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B0860-8872-4EEE-8FBC-553C26C8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98107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5D2DB-D65F-48D7-A7D3-8BC53DCB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Gradient Boosting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EDEF2-E6E7-4273-94DA-EBDFBB1F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sekély fák sorozata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0D65A7-C5C3-4549-9E35-805FA79C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76B9A"/>
                </a:solidFill>
              </a:defRPr>
            </a:pPr>
            <a:r>
              <a:rPr sz="1575" b="1">
                <a:solidFill>
                  <a:srgbClr val="276B9A"/>
                </a:solidFill>
              </a:rPr>
              <a:t>jó F1-kompromisszum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733F6-3D87-4E2A-A7D3-2FBB0AF5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Hastie és mtsai. (2009); Breiman (2001); Chen és Guestrin (2016); Friedman (2001)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00ACC-8EA0-4AAB-A95B-706D6BD6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776054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3BCCC0-D3E9-4C9A-8C02-CA395B80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267EB-FD23-4180-B718-A0F9A098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FA8E9-4517-4E12-908F-FE133BD8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414FF-A111-4685-8F63-8CC23802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F7475-612D-44A4-A784-F59FEC08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Eredmények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F2CDF-336C-4CD7-BDA6-D50A1BBE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Teljesítmény: kicsi különbségek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B9065-A761-41A6-8C89-151C962E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857250" y="1619250"/>
          <a:ext xmlns:a="http://schemas.openxmlformats.org/drawingml/2006/main" cx="8096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20abc676ec488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5449A-C36F-4724-A627-C8E3EF44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2095500" cy="314325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A2545-C9CB-4F5E-95ED-FDB9EE2B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Fő üzenet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BC5FC-5DFD-446E-AED2-A5E15E99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152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A Random Forest adta a legjobb teszt ROC AUC és accuracy értéket.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A Gradient Boosting lett a legerősebb F1-ben.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A különbségek nem nagyok.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17D3D-F0FC-44EA-8388-0493CE02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saját számítások; egstat.docx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3C05F-EC61-4C66-B073-63D09BCF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57576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BC5F03-D3D3-423D-B2BE-C006A113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6B901-1AD8-4547-8324-9A696B4B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3C7C5-5CE8-4EFB-AE59-4CFBA1C2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22A5B-3684-4109-9984-2DC308A9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8EB0A-92E6-4FC4-86F5-8EC64496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Eredmények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82477-057A-4B00-AA71-5BEBAB02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Küszöbfüggetlen és küszöbfüggő kép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8A272-6609-4814-B351-8557A18F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eb770c1294b9e"/>
          <a:stretch xmlns:a="http://schemas.openxmlformats.org/drawingml/2006/main"/>
        </p:blipFill>
        <p:spPr>
          <a:xfrm xmlns:a="http://schemas.openxmlformats.org/drawingml/2006/main">
            <a:off x="1085858" y="1571625"/>
            <a:ext cx="4276708" cy="34290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028a626d24c84"/>
          <a:stretch xmlns:a="http://schemas.openxmlformats.org/drawingml/2006/main"/>
        </p:blipFill>
        <p:spPr>
          <a:xfrm xmlns:a="http://schemas.openxmlformats.org/drawingml/2006/main">
            <a:off x="6902894" y="1571625"/>
            <a:ext cx="3339211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52014-83A4-4723-B9E0-B780EFC1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1C15"/>
                </a:solidFill>
              </a:defRPr>
            </a:pPr>
            <a:r>
              <a:rPr sz="1350" b="1">
                <a:solidFill>
                  <a:srgbClr val="081C15"/>
                </a:solidFill>
              </a:rPr>
              <a:t>ROC AUC: rangsorolási képesség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97664-3DA3-457A-9C64-2B8E5BB5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81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1C15"/>
                </a:solidFill>
              </a:defRPr>
            </a:pPr>
            <a:r>
              <a:rPr sz="1350" b="1">
                <a:solidFill>
                  <a:srgbClr val="081C15"/>
                </a:solidFill>
              </a:rPr>
              <a:t>Konfúziós mátrix: a küszöbválasztás gyakorlati ára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3F1C4-CC56-40EF-8DC3-936B6A0F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saját szerkesztés; Fawcett (2006)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2497A-F93A-44CD-96A4-858948AF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993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357CBD-7FBB-410B-9BDB-35B71049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02F5A-197E-4538-949C-F1395298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5D320-F289-4DE5-A67C-FB16A146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92A69-A6A5-476C-8A61-ACD33DC4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42DE4-B23F-4BAE-923C-EF240AD9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Gyakorlati következmény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858AF-C934-4C6B-91A3-4330D5FF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Értelmezhetőség: Glucose és BMI dominál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F32D4-5EE1-4A54-BEE8-18DC4510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a2ad61e8440d5"/>
          <a:stretch xmlns:a="http://schemas.openxmlformats.org/drawingml/2006/main"/>
        </p:blipFill>
        <p:spPr>
          <a:xfrm xmlns:a="http://schemas.openxmlformats.org/drawingml/2006/main">
            <a:off x="866989" y="1466850"/>
            <a:ext cx="6457521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18B12-EA2D-41DB-A4B4-8C257D39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2857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6B785-A531-446B-A377-8BA4B8EA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1C15"/>
                </a:solidFill>
              </a:defRPr>
            </a:pPr>
            <a:r>
              <a:rPr sz="1800" b="1">
                <a:solidFill>
                  <a:srgbClr val="081C15"/>
                </a:solidFill>
              </a:rPr>
              <a:t>Mit jelent?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FB048-038D-4C26-A710-13131B47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33650"/>
            <a:ext cx="22383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A logisztikus regresszió együtthatói közvetlenül mutatják a változók irányát és relatív erősségét.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A Glucose és a BMI volt a két legerősebb pozitív prediktor.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33680-B885-4CC7-A52E-40FF52F1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saját számítások; Hastie és mtsai. (2009)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C5213-2DC8-46EF-ADB9-1B621517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793931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7E6E27-F531-484C-A045-FC82C4AB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3476A-DF19-4873-8FE1-6AEEF2AF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E8B19-E454-4241-8D92-603DFA3D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CFA7D-B904-4FFF-A450-66DDC16D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3A0ED-86BC-4D90-86D3-C6E68388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Robusztussági jel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C3CF7-35B3-4EBA-B881-BB2857D1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Faalapú modellek: hasonló változósorrend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861EE-AE49-4ABC-93EE-1B430D00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c022eef814213"/>
          <a:stretch xmlns:a="http://schemas.openxmlformats.org/drawingml/2006/main"/>
        </p:blipFill>
        <p:spPr>
          <a:xfrm xmlns:a="http://schemas.openxmlformats.org/drawingml/2006/main">
            <a:off x="919227" y="1428750"/>
            <a:ext cx="6915020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FD99D-4206-43D8-8A21-9958E10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276225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68DEA-5F01-494F-88A1-9ABD37A8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1C15"/>
                </a:solidFill>
              </a:defRPr>
            </a:pPr>
            <a:r>
              <a:rPr sz="1800" b="1">
                <a:solidFill>
                  <a:srgbClr val="081C15"/>
                </a:solidFill>
              </a:rPr>
              <a:t>Konzisztencia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571F9-3F45-4B0B-8D5E-954F60F7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143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A három faalapú modell is főként a Glucose, BMI, Age és Insulin változókat emelte ki.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Ez erősíti, hogy az eredmény nem egyetlen modell sajátossága.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997F3-BDBE-45E9-9C6F-D0BF2681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saját számítások; Breiman (2001); Chen és Guestrin (2016); Friedman (2001)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390AD-2F8D-4609-8327-82213F8B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675889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CB7DDF-3282-45ED-AEAA-69B9D8B0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E9776-DE37-43BA-8799-5BB50B3B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42CE8-19CC-4B89-BBDD-7238AD7F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D1646-7022-4409-80A2-1EFD8574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7FDA0-4EB5-4549-886A-DFA4A66E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Konklúzió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12F6D-35C1-46EC-8F43-E2354165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Következtetés: nincs egyetlen abszolút győztes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1DD25-8BB0-4C30-9835-15001552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8127B-EF21-405F-BD27-3FAAA409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4003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23737-0B9C-4FBD-B80F-33822665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Magyarázhatóság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0D2F6-1FB7-46B2-BABC-9B0AEFE1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LogReg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CE293-3F76-4F63-88D2-F7B9BA05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5747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egyszerű, stabil, jól kommunikálható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8CF77-3D7F-468F-90B0-D3FCB982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95450"/>
            <a:ext cx="24003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5D607-E0F1-4DCC-A812-5B02333A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66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ROC AUC + 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99CB0-1220-4E1A-9708-F6708D96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526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76B9A"/>
                </a:solidFill>
              </a:defRPr>
            </a:pPr>
            <a:r>
              <a:rPr sz="2850" b="1">
                <a:solidFill>
                  <a:srgbClr val="276B9A"/>
                </a:solidFill>
              </a:rPr>
              <a:t>RF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1FDAB-1CCC-4C85-820D-234867A7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5747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a legjobb teszthalmazbeli rangsorolás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E7B03-FDE3-439E-B08E-9C49E81E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24003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8F2C0-D1D3-4917-B11C-68A7DC73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66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F1-kompromisszum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4CEC1-C84E-4C8E-9553-D9168019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58A22"/>
                </a:solidFill>
              </a:defRPr>
            </a:pPr>
            <a:r>
              <a:rPr sz="2850" b="1">
                <a:solidFill>
                  <a:srgbClr val="D58A22"/>
                </a:solidFill>
              </a:rPr>
              <a:t>GB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D91F1-04EF-4CF4-9F02-66E392E6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5747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pozitív esetek és téves riasztások egyensúlya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7CF91-3522-4BD9-8461-E146EB2F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781050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BF8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B4308C-6B8D-4A1E-9662-3CE4BD85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1C15"/>
                </a:solidFill>
              </a:defRPr>
            </a:pPr>
            <a:r>
              <a:rPr sz="1875" b="1">
                <a:solidFill>
                  <a:srgbClr val="081C15"/>
                </a:solidFill>
              </a:rPr>
              <a:t>Végső állítás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88A5C-5E11-4A7B-9F39-7AEF339E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434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E6B3A"/>
                </a:solidFill>
              </a:defRPr>
            </a:pPr>
            <a:r>
              <a:rPr sz="1875" b="1">
                <a:solidFill>
                  <a:srgbClr val="0E6B3A"/>
                </a:solidFill>
              </a:rPr>
              <a:t>A jól felépített, szivárgásmentes modellezési folyamat legalább annyira fontos, mint maga az algoritmusválasztás.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C23C5-530F-4379-99F7-BF5E06CA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2000250" cy="32956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9EF068-1082-4A25-88BA-81CB89A7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1C15"/>
                </a:solidFill>
              </a:defRPr>
            </a:pPr>
            <a:r>
              <a:rPr sz="1875" b="1">
                <a:solidFill>
                  <a:srgbClr val="081C15"/>
                </a:solidFill>
              </a:rPr>
              <a:t>Korlátok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D44317-30B6-49CC-91B6-7B1C0B46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95550"/>
            <a:ext cx="1428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C2B27"/>
                </a:solidFill>
              </a:defRPr>
            </a:pPr>
            <a:r>
              <a:rPr sz="1425">
                <a:solidFill>
                  <a:srgbClr val="1C2B27"/>
                </a:solidFill>
              </a:rPr>
              <a:t>kis minta</a:t>
            </a:r>
          </a:p>
          <a:p xmlns:a="http://schemas.openxmlformats.org/drawingml/2006/main">
            <a:pPr>
              <a:defRPr sz="1425">
                <a:solidFill>
                  <a:srgbClr val="1C2B27"/>
                </a:solidFill>
              </a:defRPr>
            </a:pPr>
            <a:r>
              <a:rPr sz="1425">
                <a:solidFill>
                  <a:srgbClr val="1C2B27"/>
                </a:solidFill>
              </a:rPr>
              <a:t>specifikus populáció</a:t>
            </a:r>
          </a:p>
          <a:p xmlns:a="http://schemas.openxmlformats.org/drawingml/2006/main">
            <a:pPr>
              <a:defRPr sz="1425">
                <a:solidFill>
                  <a:srgbClr val="1C2B27"/>
                </a:solidFill>
              </a:defRPr>
            </a:pPr>
            <a:r>
              <a:rPr sz="1425">
                <a:solidFill>
                  <a:srgbClr val="1C2B27"/>
                </a:solidFill>
              </a:rPr>
              <a:t>külső validáció hiánya</a:t>
            </a:r>
          </a:p>
          <a:p xmlns:a="http://schemas.openxmlformats.org/drawingml/2006/main">
            <a:pPr>
              <a:defRPr sz="1425">
                <a:solidFill>
                  <a:srgbClr val="1C2B27"/>
                </a:solidFill>
              </a:defRPr>
            </a:pPr>
            <a:r>
              <a:rPr sz="1425">
                <a:solidFill>
                  <a:srgbClr val="1C2B27"/>
                </a:solidFill>
              </a:rPr>
              <a:t>rácskeresés korlátai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7F559-2C8D-42F1-86E6-C064F4D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egstat.docx; Kuhn és Johnson (2013)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96215-B654-4E21-9FDA-F79538AF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35420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F4260F-BF40-4754-9961-FE0C14AE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3A"/>
          </a:solidFill>
          <a:ln xmlns:a="http://schemas.openxmlformats.org/drawingml/2006/main" w="0">
            <a:solidFill>
              <a:srgbClr val="0E6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3386F-64C7-4503-BA62-A94647C3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E2B28-6149-4F6B-8B0C-49AF45F7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326D9-5DBC-42BC-921A-7F6EB69D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95846-6ADD-4819-84CB-E19E0F16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Irodalomjegyzék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24351-320C-45C3-A7B6-0704850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Hivatkozások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57584-E2F3-46AB-880B-2FA63CE1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62"/>
          </a:solidFill>
          <a:ln xmlns:a="http://schemas.openxmlformats.org/drawingml/2006/main" w="0">
            <a:solidFill>
              <a:srgbClr val="7CCB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52C94-4846-415F-A483-57F2FA21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238750" cy="47434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7C143-105F-47B6-9238-F68009BC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90650"/>
            <a:ext cx="5238750" cy="47434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FA8D2-92AA-486E-9C9D-A2BA62E7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81965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Breiman, L. (2001). Random forests. Machine Learning, 45, 5-32. https://doi.org/10.1023/A:1010933404324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Chen, T., és Guestrin, C. (2016). XGBoost: A scalable tree boosting system. In Proceedings of the 22nd ACM SIGKDD International Conference on Knowledge Discovery and Data Mining (pp. 785-794). Association for Computing Machinery. https://doi.org/10.1145/2939672.2939785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Fawcett, T. (2006). An introduction to ROC analysis. Pattern Recognition Letters, 27(8), 861-874. https://doi.org/10.1016/j.patrec.2005.10.010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Friedman, J. H. (2001). Greedy function approximation: A gradient boosting machine. The Annals of Statistics, 29(5), 1189-1232. https://doi.org/10.1214/aos/1013203451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Hastie, T., Tibshirani, R., és Friedman, J. (2009). The elements of statistical learning: Data mining, inference, and prediction (2. kiad.). Springer. https://doi.org/10.1007/978-0-387-84858-7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C405A-BC4A-4DE8-9419-4E879E3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81965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Kuhn, M., és Johnson, K. (2013). Applied predictive modeling. Springer. https://doi.org/10.1007/978-1-4614-6849-3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National Institute of Diabetes and Digestive and Kidney Diseases. (1990). Pima Indians Diabetes Database [Adatbázis]. UCI Machine Learning Repository. https://people.cs.georgetown.edu/~maloof/cosc388.f03/pima.names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Pedregosa, F., Varoquaux, G., Gramfort, A., Michel, V., Thirion, B., Grisel, O., Blondel, M., Prettenhofer, P., Weiss, R., Dubourg, V., VanderPlas, J., Passos, A., Cournapeau, D., Brucher, M., Perrot, M., és Duchesnay, É. (2011). Scikit-learn: Machine learning in Python. Journal of Machine Learning Research, 12, 2825-2830. https://jmlr.org/papers/v12/pedregosa11a.html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Schulz, L. O., Bennett, P. H., Ravussin, E., Kidd, J. R., Kidd, K. K., Esparza, J., és Valencia, M. E. (2006). Effects of traditional and western environments on prevalence of type 2 diabetes in Pima Indians in Mexico and the U.S. Diabetes Care, 29(8), 1866-1871. https://doi.org/10.2337/dc06-0138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Smith, J. W., Everhart, J. E., Dickson, W. C., Knowler, W. C., és Johannes, R. S. (1988). Using the ADAP learning algorithm to forecast the onset of diabetes mellitus. In Proceedings of the Symposium on Computer Applications and Medical Care (pp. 261-265). IEEE Computer Society Press. https://pmc.ncbi.nlm.nih.gov/articles/PMC2245318/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80BA6-53FE-4021-BB66-07454CD4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egstat.docx hivatkozásjegyzéke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D006B-386A-4B9A-A95D-20147C27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94706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2026-06-17T10:58:13.5040000Z</dcterms:created>
  <dcterms:modified xsi:type="dcterms:W3CDTF">2026-06-17T10:58:13.5040000Z</dcterms:modified>
</coreProperties>
</file>