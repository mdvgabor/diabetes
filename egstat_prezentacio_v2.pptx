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73"/>
  </p:normalViewPr>
  <p:slideViewPr>
    <p:cSldViewPr snapToGrid="0">
      <p:cViewPr>
        <p:scale>
          <a:sx n="164" d="100"/>
          <a:sy n="164" d="100"/>
        </p:scale>
        <p:origin x="-40" y="-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ROC AUC</c:v>
          </c:tx>
          <c:spPr>
            <a:solidFill>
              <a:srgbClr val="0E6B3A"/>
            </a:solidFill>
          </c:spPr>
          <c:invertIfNegative val="1"/>
          <c:cat>
            <c:strLit>
              <c:ptCount val="4"/>
              <c:pt idx="0">
                <c:v>LogReg</c:v>
              </c:pt>
              <c:pt idx="1">
                <c:v>Random Forest</c:v>
              </c:pt>
              <c:pt idx="2">
                <c:v>XGBoost</c:v>
              </c:pt>
              <c:pt idx="3">
                <c:v>Grad. Boosting</c:v>
              </c:pt>
            </c:strLit>
          </c:cat>
          <c:val>
            <c:numLit>
              <c:formatCode>General</c:formatCode>
              <c:ptCount val="4"/>
              <c:pt idx="0">
                <c:v>0.8115</c:v>
              </c:pt>
              <c:pt idx="1">
                <c:v>0.81940000000000002</c:v>
              </c:pt>
              <c:pt idx="2">
                <c:v>0.81630000000000003</c:v>
              </c:pt>
              <c:pt idx="3">
                <c:v>0.81850000000000001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1C5-5042-BFD5-5B877334091F}"/>
            </c:ext>
          </c:extLst>
        </c:ser>
        <c:ser>
          <c:idx val="1"/>
          <c:order val="1"/>
          <c:tx>
            <c:v>Accuracy</c:v>
          </c:tx>
          <c:spPr>
            <a:solidFill>
              <a:srgbClr val="276B9A"/>
            </a:solidFill>
          </c:spPr>
          <c:invertIfNegative val="1"/>
          <c:cat>
            <c:strLit>
              <c:ptCount val="4"/>
              <c:pt idx="0">
                <c:v>LogReg</c:v>
              </c:pt>
              <c:pt idx="1">
                <c:v>Random Forest</c:v>
              </c:pt>
              <c:pt idx="2">
                <c:v>XGBoost</c:v>
              </c:pt>
              <c:pt idx="3">
                <c:v>Grad. Boosting</c:v>
              </c:pt>
            </c:strLit>
          </c:cat>
          <c:val>
            <c:numLit>
              <c:formatCode>General</c:formatCode>
              <c:ptCount val="4"/>
              <c:pt idx="0">
                <c:v>0.73380000000000001</c:v>
              </c:pt>
              <c:pt idx="1">
                <c:v>0.74680000000000002</c:v>
              </c:pt>
              <c:pt idx="2">
                <c:v>0.72729999999999995</c:v>
              </c:pt>
              <c:pt idx="3">
                <c:v>0.74029999999999996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1C5-5042-BFD5-5B877334091F}"/>
            </c:ext>
          </c:extLst>
        </c:ser>
        <c:ser>
          <c:idx val="2"/>
          <c:order val="2"/>
          <c:tx>
            <c:v>F1</c:v>
          </c:tx>
          <c:spPr>
            <a:solidFill>
              <a:srgbClr val="D58A22"/>
            </a:solidFill>
          </c:spPr>
          <c:invertIfNegative val="1"/>
          <c:cat>
            <c:strLit>
              <c:ptCount val="4"/>
              <c:pt idx="0">
                <c:v>LogReg</c:v>
              </c:pt>
              <c:pt idx="1">
                <c:v>Random Forest</c:v>
              </c:pt>
              <c:pt idx="2">
                <c:v>XGBoost</c:v>
              </c:pt>
              <c:pt idx="3">
                <c:v>Grad. Boosting</c:v>
              </c:pt>
            </c:strLit>
          </c:cat>
          <c:val>
            <c:numLit>
              <c:formatCode>General</c:formatCode>
              <c:ptCount val="4"/>
              <c:pt idx="0">
                <c:v>0.64959999999999996</c:v>
              </c:pt>
              <c:pt idx="1">
                <c:v>0.67230000000000001</c:v>
              </c:pt>
              <c:pt idx="2">
                <c:v>0.66669999999999996</c:v>
              </c:pt>
              <c:pt idx="3">
                <c:v>0.6774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61C5-5042-BFD5-5B87733409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Fedlap: téma, előadók, intézmény és FAKT logó. Röviden mondd el, hogy prediktív modell-összehasonlításról van szó.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Itt</a:t>
            </a:r>
            <a:r>
              <a:rPr dirty="0"/>
              <a:t> ne </a:t>
            </a:r>
            <a:r>
              <a:rPr dirty="0" err="1"/>
              <a:t>algoritmustankönyvet</a:t>
            </a:r>
            <a:r>
              <a:rPr dirty="0"/>
              <a:t> tarts: a </a:t>
            </a:r>
            <a:r>
              <a:rPr dirty="0" err="1"/>
              <a:t>lényeg</a:t>
            </a:r>
            <a:r>
              <a:rPr dirty="0"/>
              <a:t> a </a:t>
            </a:r>
            <a:r>
              <a:rPr dirty="0" err="1"/>
              <a:t>választási</a:t>
            </a:r>
            <a:r>
              <a:rPr dirty="0"/>
              <a:t> </a:t>
            </a:r>
            <a:r>
              <a:rPr dirty="0" err="1"/>
              <a:t>kompromisszum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Kiemelés</a:t>
            </a:r>
            <a:r>
              <a:rPr lang="en-US" dirty="0"/>
              <a:t>: </a:t>
            </a:r>
            <a:r>
              <a:rPr lang="en-US" dirty="0" err="1"/>
              <a:t>egészségügyben</a:t>
            </a:r>
            <a:r>
              <a:rPr lang="en-US" dirty="0"/>
              <a:t> nem </a:t>
            </a:r>
            <a:r>
              <a:rPr lang="en-US" dirty="0" err="1"/>
              <a:t>mindegy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téves</a:t>
            </a:r>
            <a:r>
              <a:rPr lang="en-US" dirty="0"/>
              <a:t> </a:t>
            </a:r>
            <a:r>
              <a:rPr lang="en-US" dirty="0" err="1"/>
              <a:t>negatív</a:t>
            </a:r>
            <a:r>
              <a:rPr lang="en-US" dirty="0"/>
              <a:t>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téves</a:t>
            </a:r>
            <a:r>
              <a:rPr lang="en-US" dirty="0"/>
              <a:t> </a:t>
            </a:r>
            <a:r>
              <a:rPr lang="en-US" dirty="0" err="1"/>
              <a:t>pozitív</a:t>
            </a:r>
            <a:r>
              <a:rPr lang="en-US" dirty="0"/>
              <a:t> </a:t>
            </a:r>
            <a:r>
              <a:rPr lang="en-US" dirty="0" err="1"/>
              <a:t>hibát</a:t>
            </a:r>
            <a:r>
              <a:rPr lang="en-US" dirty="0"/>
              <a:t> </a:t>
            </a:r>
            <a:r>
              <a:rPr lang="en-US" dirty="0" err="1"/>
              <a:t>vállalunk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F6EC7-1519-B458-EB84-F9AB358D1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A7078-5DD3-A22B-A4BD-5675EC94E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9B7811-E22C-0652-4821-F741D4682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0BB8C-6A27-1F53-7D7A-11B26A63550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86477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45/2939672.2939785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75314E1-1B17-475F-BFC7-FD698F0B24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CB62"/>
          </a:solidFill>
          <a:ln w="0">
            <a:solidFill>
              <a:srgbClr val="7CC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B87FCF-794A-475D-B84A-F5DE7759FF94}"/>
              </a:ext>
            </a:extLst>
          </p:cNvPr>
          <p:cNvSpPr>
            <a:spLocks noGrp="1"/>
          </p:cNvSpPr>
          <p:nvPr/>
        </p:nvSpPr>
        <p:spPr>
          <a:xfrm>
            <a:off x="7905750" y="0"/>
            <a:ext cx="4286250" cy="6858000"/>
          </a:xfrm>
          <a:prstGeom prst="rect">
            <a:avLst/>
          </a:prstGeom>
          <a:solidFill>
            <a:srgbClr val="0E6B3A"/>
          </a:solidFill>
          <a:ln w="0">
            <a:solidFill>
              <a:srgbClr val="0E6B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30D91C4-CB8D-434C-B68D-70C21A984381}"/>
              </a:ext>
            </a:extLst>
          </p:cNvPr>
          <p:cNvSpPr>
            <a:spLocks noGrp="1"/>
          </p:cNvSpPr>
          <p:nvPr/>
        </p:nvSpPr>
        <p:spPr>
          <a:xfrm>
            <a:off x="7239000" y="1123950"/>
            <a:ext cx="3667125" cy="366712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F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D1831B-B7A6-48A6-8819-D00A5E12035B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7CCB62"/>
                </a:solidFill>
              </a:defRPr>
            </a:pPr>
            <a:r>
              <a:rPr sz="1050" b="1">
                <a:solidFill>
                  <a:srgbClr val="7CCB62"/>
                </a:solidFill>
              </a:rPr>
              <a:t>FAKT Szakkollégium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FDBFB7-F0F4-4C53-9F57-50B39ED60844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61912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Cukorbetegség előrejelzése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3BC02-16E4-411C-BF2C-2B911B34CC75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6191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75">
                <a:solidFill>
                  <a:srgbClr val="DCEAE2"/>
                </a:solidFill>
              </a:defRPr>
            </a:pPr>
            <a:r>
              <a:rPr sz="1875">
                <a:solidFill>
                  <a:srgbClr val="DCEAE2"/>
                </a:solidFill>
              </a:rPr>
              <a:t>Logisztikus regresszióval és faalapú gépi tanulási modellekkel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3A9C6C-AE9E-42E9-AC70-D7615F924F98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Baki Zsombor · Medvegy Gábor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132954-0F66-43D1-91D1-F054A0794862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BFD7C8"/>
                </a:solidFill>
              </a:defRPr>
            </a:pPr>
            <a:r>
              <a:rPr sz="1200">
                <a:solidFill>
                  <a:srgbClr val="BFD7C8"/>
                </a:solidFill>
              </a:rPr>
              <a:t>2026. június 17.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3FCD541-0597-4984-B755-BF722D6D07D9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2476500" cy="361950"/>
          </a:xfrm>
          <a:prstGeom prst="roundRect">
            <a:avLst>
              <a:gd name="adj" fmla="val 50000"/>
            </a:avLst>
          </a:prstGeom>
          <a:solidFill>
            <a:srgbClr val="7CCB62"/>
          </a:solidFill>
          <a:ln w="9525">
            <a:solidFill>
              <a:srgbClr val="D6E6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85A183-34AF-4C93-9DEC-8FDDC0DAD13F}"/>
              </a:ext>
            </a:extLst>
          </p:cNvPr>
          <p:cNvSpPr>
            <a:spLocks noGrp="1"/>
          </p:cNvSpPr>
          <p:nvPr/>
        </p:nvSpPr>
        <p:spPr>
          <a:xfrm>
            <a:off x="819150" y="5229225"/>
            <a:ext cx="2209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081C15"/>
                </a:solidFill>
              </a:defRPr>
            </a:pPr>
            <a:r>
              <a:rPr sz="975" b="1">
                <a:solidFill>
                  <a:srgbClr val="081C15"/>
                </a:solidFill>
              </a:rPr>
              <a:t>Egészségügyi statisztika</a:t>
            </a:r>
          </a:p>
        </p:txBody>
      </p:sp>
      <p:pic>
        <p:nvPicPr>
          <p:cNvPr id="25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00950" y="1524000"/>
            <a:ext cx="2952750" cy="29527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677C4F3-3AD3-48F8-8450-F25302E0FEE8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DCEAE2"/>
                </a:solidFill>
              </a:defRPr>
            </a:pPr>
            <a:r>
              <a:rPr sz="900" b="1">
                <a:solidFill>
                  <a:srgbClr val="DCEAE2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7357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AB769FB5-5B22-488C-AEF4-676F60A841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0E6B3A"/>
          </a:solidFill>
          <a:ln w="0">
            <a:solidFill>
              <a:srgbClr val="0E6B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8542F0-F2C8-4785-AEDE-611AD007C52B}"/>
              </a:ext>
            </a:extLst>
          </p:cNvPr>
          <p:cNvSpPr>
            <a:spLocks noGrp="1"/>
          </p:cNvSpPr>
          <p:nvPr/>
        </p:nvSpPr>
        <p:spPr>
          <a:xfrm>
            <a:off x="209550" y="0"/>
            <a:ext cx="11982450" cy="76200"/>
          </a:xfrm>
          <a:prstGeom prst="rect">
            <a:avLst/>
          </a:prstGeom>
          <a:solidFill>
            <a:srgbClr val="7CCB62"/>
          </a:solidFill>
          <a:ln w="0">
            <a:solidFill>
              <a:srgbClr val="7CC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8F8DE9-223C-4508-8430-FE83E175EFEE}"/>
              </a:ext>
            </a:extLst>
          </p:cNvPr>
          <p:cNvSpPr>
            <a:spLocks noGrp="1"/>
          </p:cNvSpPr>
          <p:nvPr/>
        </p:nvSpPr>
        <p:spPr>
          <a:xfrm>
            <a:off x="11239500" y="0"/>
            <a:ext cx="952500" cy="6858000"/>
          </a:xfrm>
          <a:prstGeom prst="rect">
            <a:avLst/>
          </a:prstGeom>
          <a:solidFill>
            <a:srgbClr val="EEF7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1FC32BE-C522-4168-BD54-C6F86EE3B0AA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2000250" cy="285750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 w="9525">
            <a:solidFill>
              <a:srgbClr val="D6E6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EC125-06DC-4C34-8ADE-D3085BB8BD70}"/>
              </a:ext>
            </a:extLst>
          </p:cNvPr>
          <p:cNvSpPr>
            <a:spLocks noGrp="1"/>
          </p:cNvSpPr>
          <p:nvPr/>
        </p:nvSpPr>
        <p:spPr>
          <a:xfrm>
            <a:off x="819150" y="409575"/>
            <a:ext cx="1695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0E6B3A"/>
                </a:solidFill>
              </a:defRPr>
            </a:pPr>
            <a:r>
              <a:rPr sz="825" b="1">
                <a:solidFill>
                  <a:srgbClr val="0E6B3A"/>
                </a:solidFill>
              </a:rPr>
              <a:t>Áttekintés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0AC49F-8C61-405C-872F-A02C09E6CCC0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81C15"/>
                </a:solidFill>
              </a:defRPr>
            </a:pPr>
            <a:r>
              <a:rPr sz="2550" b="1">
                <a:solidFill>
                  <a:srgbClr val="081C15"/>
                </a:solidFill>
              </a:rPr>
              <a:t>Menetrend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4E5595-A487-4AF5-A1EF-E97A0D3621B2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10839450" cy="19050"/>
          </a:xfrm>
          <a:prstGeom prst="rect">
            <a:avLst/>
          </a:prstGeom>
          <a:solidFill>
            <a:srgbClr val="7CCB62"/>
          </a:solidFill>
          <a:ln w="0">
            <a:solidFill>
              <a:srgbClr val="7CC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0594BEE-34E0-4A5C-8675-A80EABC8DF90}"/>
              </a:ext>
            </a:extLst>
          </p:cNvPr>
          <p:cNvSpPr>
            <a:spLocks noGrp="1"/>
          </p:cNvSpPr>
          <p:nvPr/>
        </p:nvSpPr>
        <p:spPr>
          <a:xfrm>
            <a:off x="876300" y="1676400"/>
            <a:ext cx="4762500" cy="1581150"/>
          </a:xfrm>
          <a:prstGeom prst="roundRect">
            <a:avLst>
              <a:gd name="adj" fmla="val 10843"/>
            </a:avLst>
          </a:prstGeom>
          <a:solidFill>
            <a:srgbClr val="FFFFFF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974A78-9222-4E30-AB9A-AED388032303}"/>
              </a:ext>
            </a:extLst>
          </p:cNvPr>
          <p:cNvSpPr>
            <a:spLocks noGrp="1"/>
          </p:cNvSpPr>
          <p:nvPr/>
        </p:nvSpPr>
        <p:spPr>
          <a:xfrm>
            <a:off x="1143000" y="1981200"/>
            <a:ext cx="514350" cy="514350"/>
          </a:xfrm>
          <a:prstGeom prst="ellipse">
            <a:avLst/>
          </a:prstGeom>
          <a:solidFill>
            <a:srgbClr val="0E6B3A"/>
          </a:solidFill>
          <a:ln w="0">
            <a:solidFill>
              <a:srgbClr val="0E6B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D5AC3D-3544-480F-892C-CEB496FEB4E3}"/>
              </a:ext>
            </a:extLst>
          </p:cNvPr>
          <p:cNvSpPr>
            <a:spLocks noGrp="1"/>
          </p:cNvSpPr>
          <p:nvPr/>
        </p:nvSpPr>
        <p:spPr>
          <a:xfrm>
            <a:off x="1314450" y="2105025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E932C2-5357-4155-A057-9987BC8B5872}"/>
              </a:ext>
            </a:extLst>
          </p:cNvPr>
          <p:cNvSpPr>
            <a:spLocks noGrp="1"/>
          </p:cNvSpPr>
          <p:nvPr/>
        </p:nvSpPr>
        <p:spPr>
          <a:xfrm>
            <a:off x="1866900" y="19621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081C15"/>
                </a:solidFill>
              </a:defRPr>
            </a:pPr>
            <a:r>
              <a:rPr sz="1950" b="1">
                <a:solidFill>
                  <a:srgbClr val="081C15"/>
                </a:solidFill>
              </a:rPr>
              <a:t>Téma és adatbázis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627082-48DF-468F-BF9D-DE63EFAB811F}"/>
              </a:ext>
            </a:extLst>
          </p:cNvPr>
          <p:cNvSpPr>
            <a:spLocks noGrp="1"/>
          </p:cNvSpPr>
          <p:nvPr/>
        </p:nvSpPr>
        <p:spPr>
          <a:xfrm>
            <a:off x="1866900" y="2400300"/>
            <a:ext cx="323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1C2B27"/>
                </a:solidFill>
              </a:defRPr>
            </a:pPr>
            <a:r>
              <a:rPr sz="1350">
                <a:solidFill>
                  <a:srgbClr val="1C2B27"/>
                </a:solidFill>
              </a:rPr>
              <a:t>Miért érdekes a cukorbetegség-előrejelzés, és milyen mintán dolgozunk?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B9B330C-0073-4F92-8238-2F96ADF69880}"/>
              </a:ext>
            </a:extLst>
          </p:cNvPr>
          <p:cNvSpPr>
            <a:spLocks noGrp="1"/>
          </p:cNvSpPr>
          <p:nvPr/>
        </p:nvSpPr>
        <p:spPr>
          <a:xfrm>
            <a:off x="6210300" y="1676400"/>
            <a:ext cx="4762500" cy="1581150"/>
          </a:xfrm>
          <a:prstGeom prst="roundRect">
            <a:avLst>
              <a:gd name="adj" fmla="val 10843"/>
            </a:avLst>
          </a:prstGeom>
          <a:solidFill>
            <a:srgbClr val="F6FBF8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332569-B045-4983-95BE-20E249DCB2E2}"/>
              </a:ext>
            </a:extLst>
          </p:cNvPr>
          <p:cNvSpPr>
            <a:spLocks noGrp="1"/>
          </p:cNvSpPr>
          <p:nvPr/>
        </p:nvSpPr>
        <p:spPr>
          <a:xfrm>
            <a:off x="6477000" y="1981200"/>
            <a:ext cx="514350" cy="514350"/>
          </a:xfrm>
          <a:prstGeom prst="ellipse">
            <a:avLst/>
          </a:prstGeom>
          <a:solidFill>
            <a:srgbClr val="0E6B3A"/>
          </a:solidFill>
          <a:ln w="0">
            <a:solidFill>
              <a:srgbClr val="0E6B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A3CFB0-D2A8-4119-A226-FE7E9D5728EF}"/>
              </a:ext>
            </a:extLst>
          </p:cNvPr>
          <p:cNvSpPr>
            <a:spLocks noGrp="1"/>
          </p:cNvSpPr>
          <p:nvPr/>
        </p:nvSpPr>
        <p:spPr>
          <a:xfrm>
            <a:off x="6648450" y="2105025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638B21-8B6B-4992-9A44-356C9F2FF9EC}"/>
              </a:ext>
            </a:extLst>
          </p:cNvPr>
          <p:cNvSpPr>
            <a:spLocks noGrp="1"/>
          </p:cNvSpPr>
          <p:nvPr/>
        </p:nvSpPr>
        <p:spPr>
          <a:xfrm>
            <a:off x="7200900" y="19621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081C15"/>
                </a:solidFill>
              </a:defRPr>
            </a:pPr>
            <a:r>
              <a:rPr sz="1950" b="1">
                <a:solidFill>
                  <a:srgbClr val="081C15"/>
                </a:solidFill>
              </a:rPr>
              <a:t>Módszertan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B6E0CB-55CD-459B-B392-5184BF064981}"/>
              </a:ext>
            </a:extLst>
          </p:cNvPr>
          <p:cNvSpPr>
            <a:spLocks noGrp="1"/>
          </p:cNvSpPr>
          <p:nvPr/>
        </p:nvSpPr>
        <p:spPr>
          <a:xfrm>
            <a:off x="7200900" y="2400300"/>
            <a:ext cx="323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1C2B27"/>
                </a:solidFill>
              </a:defRPr>
            </a:pPr>
            <a:r>
              <a:rPr sz="1350">
                <a:solidFill>
                  <a:srgbClr val="1C2B27"/>
                </a:solidFill>
              </a:rPr>
              <a:t>Adattisztítás, szivárgásmentes pipeline, keresztvalidáció és metrikák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686D4A3-CD83-4DC1-A111-C9CC7F0D5552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4762500" cy="1581150"/>
          </a:xfrm>
          <a:prstGeom prst="roundRect">
            <a:avLst>
              <a:gd name="adj" fmla="val 10843"/>
            </a:avLst>
          </a:prstGeom>
          <a:solidFill>
            <a:srgbClr val="FFFFFF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7020612-4534-47A0-A450-5F4F830F9125}"/>
              </a:ext>
            </a:extLst>
          </p:cNvPr>
          <p:cNvSpPr>
            <a:spLocks noGrp="1"/>
          </p:cNvSpPr>
          <p:nvPr/>
        </p:nvSpPr>
        <p:spPr>
          <a:xfrm>
            <a:off x="1143000" y="4152900"/>
            <a:ext cx="514350" cy="514350"/>
          </a:xfrm>
          <a:prstGeom prst="ellipse">
            <a:avLst/>
          </a:prstGeom>
          <a:solidFill>
            <a:srgbClr val="0E6B3A"/>
          </a:solidFill>
          <a:ln w="0">
            <a:solidFill>
              <a:srgbClr val="0E6B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C67198-361D-49A4-9AD4-309D448EEFFC}"/>
              </a:ext>
            </a:extLst>
          </p:cNvPr>
          <p:cNvSpPr>
            <a:spLocks noGrp="1"/>
          </p:cNvSpPr>
          <p:nvPr/>
        </p:nvSpPr>
        <p:spPr>
          <a:xfrm>
            <a:off x="1314450" y="4276725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2F5E49-3854-4068-AAC8-874DDB90C732}"/>
              </a:ext>
            </a:extLst>
          </p:cNvPr>
          <p:cNvSpPr>
            <a:spLocks noGrp="1"/>
          </p:cNvSpPr>
          <p:nvPr/>
        </p:nvSpPr>
        <p:spPr>
          <a:xfrm>
            <a:off x="1866900" y="41338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081C15"/>
                </a:solidFill>
              </a:defRPr>
            </a:pPr>
            <a:r>
              <a:rPr sz="1950" b="1">
                <a:solidFill>
                  <a:srgbClr val="081C15"/>
                </a:solidFill>
              </a:rPr>
              <a:t>Eredmények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BBC231-4EBF-4AEA-AF6C-889F9B3B5143}"/>
              </a:ext>
            </a:extLst>
          </p:cNvPr>
          <p:cNvSpPr>
            <a:spLocks noGrp="1"/>
          </p:cNvSpPr>
          <p:nvPr/>
        </p:nvSpPr>
        <p:spPr>
          <a:xfrm>
            <a:off x="1866900" y="4572000"/>
            <a:ext cx="323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1C2B27"/>
                </a:solidFill>
              </a:defRPr>
            </a:pPr>
            <a:r>
              <a:rPr sz="1350">
                <a:solidFill>
                  <a:srgbClr val="1C2B27"/>
                </a:solidFill>
              </a:rPr>
              <a:t>ROC AUC, accuracy, F1 és konfúziós mátrix alapján összevetett modellek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8F7243D-2715-4AE8-90C8-859D46323B60}"/>
              </a:ext>
            </a:extLst>
          </p:cNvPr>
          <p:cNvSpPr>
            <a:spLocks noGrp="1"/>
          </p:cNvSpPr>
          <p:nvPr/>
        </p:nvSpPr>
        <p:spPr>
          <a:xfrm>
            <a:off x="6210300" y="3848100"/>
            <a:ext cx="4762500" cy="1581150"/>
          </a:xfrm>
          <a:prstGeom prst="roundRect">
            <a:avLst>
              <a:gd name="adj" fmla="val 10843"/>
            </a:avLst>
          </a:prstGeom>
          <a:solidFill>
            <a:srgbClr val="F6FBF8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7BFEA66-47A8-4ACD-969A-0D8351E8EA4E}"/>
              </a:ext>
            </a:extLst>
          </p:cNvPr>
          <p:cNvSpPr>
            <a:spLocks noGrp="1"/>
          </p:cNvSpPr>
          <p:nvPr/>
        </p:nvSpPr>
        <p:spPr>
          <a:xfrm>
            <a:off x="6477000" y="4152900"/>
            <a:ext cx="514350" cy="514350"/>
          </a:xfrm>
          <a:prstGeom prst="ellipse">
            <a:avLst/>
          </a:prstGeom>
          <a:solidFill>
            <a:srgbClr val="0E6B3A"/>
          </a:solidFill>
          <a:ln w="0">
            <a:solidFill>
              <a:srgbClr val="0E6B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8FF172-8440-4321-85D8-BD1C09B2BE9C}"/>
              </a:ext>
            </a:extLst>
          </p:cNvPr>
          <p:cNvSpPr>
            <a:spLocks noGrp="1"/>
          </p:cNvSpPr>
          <p:nvPr/>
        </p:nvSpPr>
        <p:spPr>
          <a:xfrm>
            <a:off x="6648450" y="4276725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1F09DF-61DC-483C-B2FE-38E3B39A6BE2}"/>
              </a:ext>
            </a:extLst>
          </p:cNvPr>
          <p:cNvSpPr>
            <a:spLocks noGrp="1"/>
          </p:cNvSpPr>
          <p:nvPr/>
        </p:nvSpPr>
        <p:spPr>
          <a:xfrm>
            <a:off x="7200900" y="41338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081C15"/>
                </a:solidFill>
              </a:defRPr>
            </a:pPr>
            <a:r>
              <a:rPr sz="1950" b="1">
                <a:solidFill>
                  <a:srgbClr val="081C15"/>
                </a:solidFill>
              </a:rPr>
              <a:t>Értelmezés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706ED3-339A-4A44-9A0D-CADC57AD3212}"/>
              </a:ext>
            </a:extLst>
          </p:cNvPr>
          <p:cNvSpPr>
            <a:spLocks noGrp="1"/>
          </p:cNvSpPr>
          <p:nvPr/>
        </p:nvSpPr>
        <p:spPr>
          <a:xfrm>
            <a:off x="7200900" y="4572000"/>
            <a:ext cx="323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1C2B27"/>
                </a:solidFill>
              </a:defRPr>
            </a:pPr>
            <a:r>
              <a:rPr sz="1350">
                <a:solidFill>
                  <a:srgbClr val="1C2B27"/>
                </a:solidFill>
              </a:rPr>
              <a:t>Fontos prediktorok, gyakorlati modellválasztás és korlátok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E99C598-9A09-4943-BE13-5B3654362D19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687873"/>
                </a:solidFill>
              </a:defRPr>
            </a:pPr>
            <a:r>
              <a:rPr sz="900" b="1">
                <a:solidFill>
                  <a:srgbClr val="6878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55003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B3455F8-2C8D-4280-8540-52575A5A6D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0E6B3A"/>
          </a:solidFill>
          <a:ln w="0">
            <a:solidFill>
              <a:srgbClr val="0E6B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C80477-E401-45D9-AE00-1EDFD2E0FB29}"/>
              </a:ext>
            </a:extLst>
          </p:cNvPr>
          <p:cNvSpPr>
            <a:spLocks noGrp="1"/>
          </p:cNvSpPr>
          <p:nvPr/>
        </p:nvSpPr>
        <p:spPr>
          <a:xfrm>
            <a:off x="209550" y="0"/>
            <a:ext cx="11982450" cy="76200"/>
          </a:xfrm>
          <a:prstGeom prst="rect">
            <a:avLst/>
          </a:prstGeom>
          <a:solidFill>
            <a:srgbClr val="7CCB62"/>
          </a:solidFill>
          <a:ln w="0">
            <a:solidFill>
              <a:srgbClr val="7CC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C11E12-E223-41EB-B892-6773E5B8EE8B}"/>
              </a:ext>
            </a:extLst>
          </p:cNvPr>
          <p:cNvSpPr>
            <a:spLocks noGrp="1"/>
          </p:cNvSpPr>
          <p:nvPr/>
        </p:nvSpPr>
        <p:spPr>
          <a:xfrm>
            <a:off x="11239500" y="0"/>
            <a:ext cx="952500" cy="6858000"/>
          </a:xfrm>
          <a:prstGeom prst="rect">
            <a:avLst/>
          </a:prstGeom>
          <a:solidFill>
            <a:srgbClr val="EEF7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C20CD4A-6FE1-479C-A917-F4379E9EC839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2000250" cy="285750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 w="9525">
            <a:solidFill>
              <a:srgbClr val="D6E6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BAEA48-448B-43BC-8529-E6DAC27FB706}"/>
              </a:ext>
            </a:extLst>
          </p:cNvPr>
          <p:cNvSpPr>
            <a:spLocks noGrp="1"/>
          </p:cNvSpPr>
          <p:nvPr/>
        </p:nvSpPr>
        <p:spPr>
          <a:xfrm>
            <a:off x="819150" y="409575"/>
            <a:ext cx="1695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0E6B3A"/>
                </a:solidFill>
              </a:defRPr>
            </a:pPr>
            <a:r>
              <a:rPr sz="825" b="1">
                <a:solidFill>
                  <a:srgbClr val="0E6B3A"/>
                </a:solidFill>
              </a:rPr>
              <a:t>Téma felvezetése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DBA079-B419-492E-BE7A-4C531CF164B3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81C15"/>
                </a:solidFill>
              </a:defRPr>
            </a:pPr>
            <a:r>
              <a:rPr sz="2550" b="1">
                <a:solidFill>
                  <a:srgbClr val="081C15"/>
                </a:solidFill>
              </a:rPr>
              <a:t>Kutatási kérdés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1FA4B0-34AA-4029-8A90-6AAA61615C53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10839450" cy="19050"/>
          </a:xfrm>
          <a:prstGeom prst="rect">
            <a:avLst/>
          </a:prstGeom>
          <a:solidFill>
            <a:srgbClr val="7CCB62"/>
          </a:solidFill>
          <a:ln w="0">
            <a:solidFill>
              <a:srgbClr val="7CC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A11BBF-AA40-48BF-B194-82228C8F9D69}"/>
              </a:ext>
            </a:extLst>
          </p:cNvPr>
          <p:cNvSpPr>
            <a:spLocks noGrp="1"/>
          </p:cNvSpPr>
          <p:nvPr/>
        </p:nvSpPr>
        <p:spPr>
          <a:xfrm>
            <a:off x="857250" y="1657350"/>
            <a:ext cx="962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081C15"/>
                </a:solidFill>
              </a:defRPr>
            </a:pPr>
            <a:r>
              <a:rPr sz="2400" b="1">
                <a:solidFill>
                  <a:srgbClr val="081C15"/>
                </a:solidFill>
              </a:rPr>
              <a:t>Javítanak-e érdemben a komplex faalapú modellek egy egyszerűbb, jól értelmezhető logisztikus regresszióhoz képest?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19338FB-76A6-4195-91C0-268AD8562F14}"/>
              </a:ext>
            </a:extLst>
          </p:cNvPr>
          <p:cNvSpPr>
            <a:spLocks noGrp="1"/>
          </p:cNvSpPr>
          <p:nvPr/>
        </p:nvSpPr>
        <p:spPr>
          <a:xfrm>
            <a:off x="857250" y="3219450"/>
            <a:ext cx="2400300" cy="1409700"/>
          </a:xfrm>
          <a:prstGeom prst="roundRect">
            <a:avLst>
              <a:gd name="adj" fmla="val 12162"/>
            </a:avLst>
          </a:prstGeom>
          <a:solidFill>
            <a:srgbClr val="F6FBF8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D2FF06-78A1-4E56-A12D-5B309E78DA48}"/>
              </a:ext>
            </a:extLst>
          </p:cNvPr>
          <p:cNvSpPr>
            <a:spLocks noGrp="1"/>
          </p:cNvSpPr>
          <p:nvPr/>
        </p:nvSpPr>
        <p:spPr>
          <a:xfrm>
            <a:off x="1047750" y="33909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687873"/>
                </a:solidFill>
              </a:defRPr>
            </a:pPr>
            <a:r>
              <a:rPr sz="1050" b="1">
                <a:solidFill>
                  <a:srgbClr val="687873"/>
                </a:solidFill>
              </a:rPr>
              <a:t>Megfigyelés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848C34-7CC6-453E-BC45-10F743EEB032}"/>
              </a:ext>
            </a:extLst>
          </p:cNvPr>
          <p:cNvSpPr>
            <a:spLocks noGrp="1"/>
          </p:cNvSpPr>
          <p:nvPr/>
        </p:nvSpPr>
        <p:spPr>
          <a:xfrm>
            <a:off x="1047750" y="3676650"/>
            <a:ext cx="2019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0E6B3A"/>
                </a:solidFill>
              </a:defRPr>
            </a:pPr>
            <a:r>
              <a:rPr sz="2850" b="1">
                <a:solidFill>
                  <a:srgbClr val="0E6B3A"/>
                </a:solidFill>
              </a:rPr>
              <a:t>768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626BFD-7191-48DE-83A4-122994D5D7A4}"/>
              </a:ext>
            </a:extLst>
          </p:cNvPr>
          <p:cNvSpPr>
            <a:spLocks noGrp="1"/>
          </p:cNvSpPr>
          <p:nvPr/>
        </p:nvSpPr>
        <p:spPr>
          <a:xfrm>
            <a:off x="1047750" y="4181475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1C2B27"/>
                </a:solidFill>
              </a:defRPr>
            </a:pPr>
            <a:r>
              <a:rPr sz="1125">
                <a:solidFill>
                  <a:srgbClr val="1C2B27"/>
                </a:solidFill>
              </a:rPr>
              <a:t>rekord a Pima Indians Diabetes adatbázisban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B83F8F4-499C-4F21-A36B-51E2F99D3167}"/>
              </a:ext>
            </a:extLst>
          </p:cNvPr>
          <p:cNvSpPr>
            <a:spLocks noGrp="1"/>
          </p:cNvSpPr>
          <p:nvPr/>
        </p:nvSpPr>
        <p:spPr>
          <a:xfrm>
            <a:off x="3619500" y="3219450"/>
            <a:ext cx="2400300" cy="1409700"/>
          </a:xfrm>
          <a:prstGeom prst="roundRect">
            <a:avLst>
              <a:gd name="adj" fmla="val 12162"/>
            </a:avLst>
          </a:prstGeom>
          <a:solidFill>
            <a:srgbClr val="F6FBF8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CD082E-C11A-4941-8328-9D8438B44DF1}"/>
              </a:ext>
            </a:extLst>
          </p:cNvPr>
          <p:cNvSpPr>
            <a:spLocks noGrp="1"/>
          </p:cNvSpPr>
          <p:nvPr/>
        </p:nvSpPr>
        <p:spPr>
          <a:xfrm>
            <a:off x="3810000" y="33909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687873"/>
                </a:solidFill>
              </a:defRPr>
            </a:pPr>
            <a:r>
              <a:rPr sz="1050" b="1">
                <a:solidFill>
                  <a:srgbClr val="687873"/>
                </a:solidFill>
              </a:rPr>
              <a:t>Változó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EB864A-FECC-4BDE-976C-790F5780A755}"/>
              </a:ext>
            </a:extLst>
          </p:cNvPr>
          <p:cNvSpPr>
            <a:spLocks noGrp="1"/>
          </p:cNvSpPr>
          <p:nvPr/>
        </p:nvSpPr>
        <p:spPr>
          <a:xfrm>
            <a:off x="3810000" y="3676650"/>
            <a:ext cx="2019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276B9A"/>
                </a:solidFill>
              </a:defRPr>
            </a:pPr>
            <a:r>
              <a:rPr sz="2850" b="1">
                <a:solidFill>
                  <a:srgbClr val="276B9A"/>
                </a:solidFill>
              </a:rPr>
              <a:t>8+1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CB3B42-DCDD-4A93-AE34-5F2FB73AEA08}"/>
              </a:ext>
            </a:extLst>
          </p:cNvPr>
          <p:cNvSpPr>
            <a:spLocks noGrp="1"/>
          </p:cNvSpPr>
          <p:nvPr/>
        </p:nvSpPr>
        <p:spPr>
          <a:xfrm>
            <a:off x="3810000" y="4181475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1C2B27"/>
                </a:solidFill>
              </a:defRPr>
            </a:pPr>
            <a:r>
              <a:rPr sz="1125">
                <a:solidFill>
                  <a:srgbClr val="1C2B27"/>
                </a:solidFill>
              </a:rPr>
              <a:t>8 magyarázó változó és bináris Outcome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B444D76-44D8-4FEC-A638-53AA38C43115}"/>
              </a:ext>
            </a:extLst>
          </p:cNvPr>
          <p:cNvSpPr>
            <a:spLocks noGrp="1"/>
          </p:cNvSpPr>
          <p:nvPr/>
        </p:nvSpPr>
        <p:spPr>
          <a:xfrm>
            <a:off x="6381750" y="3219450"/>
            <a:ext cx="2400300" cy="1409700"/>
          </a:xfrm>
          <a:prstGeom prst="roundRect">
            <a:avLst>
              <a:gd name="adj" fmla="val 12162"/>
            </a:avLst>
          </a:prstGeom>
          <a:solidFill>
            <a:srgbClr val="F6FBF8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B8A567-22EC-4532-B819-2B4DD8C43079}"/>
              </a:ext>
            </a:extLst>
          </p:cNvPr>
          <p:cNvSpPr>
            <a:spLocks noGrp="1"/>
          </p:cNvSpPr>
          <p:nvPr/>
        </p:nvSpPr>
        <p:spPr>
          <a:xfrm>
            <a:off x="6572250" y="33909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687873"/>
                </a:solidFill>
              </a:defRPr>
            </a:pPr>
            <a:r>
              <a:rPr sz="1050" b="1">
                <a:solidFill>
                  <a:srgbClr val="687873"/>
                </a:solidFill>
              </a:rPr>
              <a:t>Modellek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0341F7-A559-4F54-B9A7-9B61D93967DA}"/>
              </a:ext>
            </a:extLst>
          </p:cNvPr>
          <p:cNvSpPr>
            <a:spLocks noGrp="1"/>
          </p:cNvSpPr>
          <p:nvPr/>
        </p:nvSpPr>
        <p:spPr>
          <a:xfrm>
            <a:off x="6572250" y="3676650"/>
            <a:ext cx="2019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D58A22"/>
                </a:solidFill>
              </a:defRPr>
            </a:pPr>
            <a:r>
              <a:rPr sz="2850" b="1">
                <a:solidFill>
                  <a:srgbClr val="D58A22"/>
                </a:solidFill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11FBA8-622B-4560-8AA3-A3CBF003F0ED}"/>
              </a:ext>
            </a:extLst>
          </p:cNvPr>
          <p:cNvSpPr>
            <a:spLocks noGrp="1"/>
          </p:cNvSpPr>
          <p:nvPr/>
        </p:nvSpPr>
        <p:spPr>
          <a:xfrm>
            <a:off x="6572250" y="4181475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1C2B27"/>
                </a:solidFill>
              </a:defRPr>
            </a:pPr>
            <a:r>
              <a:rPr sz="1125">
                <a:solidFill>
                  <a:srgbClr val="1C2B27"/>
                </a:solidFill>
              </a:rPr>
              <a:t>logisztikus regresszió + három faalapú modell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D99B5D5-BEFC-4386-BDF7-C78866ADAFF9}"/>
              </a:ext>
            </a:extLst>
          </p:cNvPr>
          <p:cNvSpPr>
            <a:spLocks noGrp="1"/>
          </p:cNvSpPr>
          <p:nvPr/>
        </p:nvSpPr>
        <p:spPr>
          <a:xfrm>
            <a:off x="9144000" y="3219450"/>
            <a:ext cx="2400300" cy="1409700"/>
          </a:xfrm>
          <a:prstGeom prst="roundRect">
            <a:avLst>
              <a:gd name="adj" fmla="val 12162"/>
            </a:avLst>
          </a:prstGeom>
          <a:solidFill>
            <a:srgbClr val="F6FBF8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B12C77-7935-4AE2-883E-9025A3ABDB69}"/>
              </a:ext>
            </a:extLst>
          </p:cNvPr>
          <p:cNvSpPr>
            <a:spLocks noGrp="1"/>
          </p:cNvSpPr>
          <p:nvPr/>
        </p:nvSpPr>
        <p:spPr>
          <a:xfrm>
            <a:off x="9334500" y="33909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687873"/>
                </a:solidFill>
              </a:defRPr>
            </a:pPr>
            <a:r>
              <a:rPr sz="1050" b="1">
                <a:solidFill>
                  <a:srgbClr val="687873"/>
                </a:solidFill>
              </a:rPr>
              <a:t>Cél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9772C5-5A4F-43C8-A64A-B439FADAE52F}"/>
              </a:ext>
            </a:extLst>
          </p:cNvPr>
          <p:cNvSpPr>
            <a:spLocks noGrp="1"/>
          </p:cNvSpPr>
          <p:nvPr/>
        </p:nvSpPr>
        <p:spPr>
          <a:xfrm>
            <a:off x="9334500" y="3676650"/>
            <a:ext cx="2019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0E6B3A"/>
                </a:solidFill>
              </a:defRPr>
            </a:pPr>
            <a:r>
              <a:rPr sz="2850" b="1">
                <a:solidFill>
                  <a:srgbClr val="0E6B3A"/>
                </a:solidFill>
              </a:rPr>
              <a:t>értékelés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691FA2-B93B-44C0-84C0-F717D033D17A}"/>
              </a:ext>
            </a:extLst>
          </p:cNvPr>
          <p:cNvSpPr>
            <a:spLocks noGrp="1"/>
          </p:cNvSpPr>
          <p:nvPr/>
        </p:nvSpPr>
        <p:spPr>
          <a:xfrm>
            <a:off x="9334500" y="4181475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1C2B27"/>
                </a:solidFill>
              </a:defRPr>
            </a:pPr>
            <a:r>
              <a:rPr sz="1125">
                <a:solidFill>
                  <a:srgbClr val="1C2B27"/>
                </a:solidFill>
              </a:rPr>
              <a:t>teljesítmény és értelmezhetőség együtt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ABECFA-2941-4ED0-B7BF-B038F8109D1F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885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>
                <a:solidFill>
                  <a:srgbClr val="687873"/>
                </a:solidFill>
              </a:defRPr>
            </a:pPr>
            <a:r>
              <a:rPr sz="825">
                <a:solidFill>
                  <a:srgbClr val="687873"/>
                </a:solidFill>
              </a:rPr>
              <a:t>Forrás: Smith és mtsai. (1988); NIDDK (1990)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888A9C-B7FE-4334-BA91-A7E861FEC387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687873"/>
                </a:solidFill>
              </a:defRPr>
            </a:pPr>
            <a:r>
              <a:rPr sz="900" b="1">
                <a:solidFill>
                  <a:srgbClr val="6878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91885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7AF8FE40-3855-4055-BFEA-6EE5B40AF8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0E6B3A"/>
          </a:solidFill>
          <a:ln w="0">
            <a:solidFill>
              <a:srgbClr val="0E6B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A38A32-527C-4879-A6C4-7DBD901696A6}"/>
              </a:ext>
            </a:extLst>
          </p:cNvPr>
          <p:cNvSpPr>
            <a:spLocks noGrp="1"/>
          </p:cNvSpPr>
          <p:nvPr/>
        </p:nvSpPr>
        <p:spPr>
          <a:xfrm>
            <a:off x="209550" y="0"/>
            <a:ext cx="11982450" cy="76200"/>
          </a:xfrm>
          <a:prstGeom prst="rect">
            <a:avLst/>
          </a:prstGeom>
          <a:solidFill>
            <a:srgbClr val="7CCB62"/>
          </a:solidFill>
          <a:ln w="0">
            <a:solidFill>
              <a:srgbClr val="7CC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71947F-74FB-4539-B525-150EDC3EADE9}"/>
              </a:ext>
            </a:extLst>
          </p:cNvPr>
          <p:cNvSpPr>
            <a:spLocks noGrp="1"/>
          </p:cNvSpPr>
          <p:nvPr/>
        </p:nvSpPr>
        <p:spPr>
          <a:xfrm>
            <a:off x="11239500" y="0"/>
            <a:ext cx="952500" cy="6858000"/>
          </a:xfrm>
          <a:prstGeom prst="rect">
            <a:avLst/>
          </a:prstGeom>
          <a:solidFill>
            <a:srgbClr val="EEF7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64429C5-D2A7-40A0-972E-7AF9B23A311C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2000250" cy="285750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 w="9525">
            <a:solidFill>
              <a:srgbClr val="D6E6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FF1043-D944-47D9-929F-AE15ADAE1A4C}"/>
              </a:ext>
            </a:extLst>
          </p:cNvPr>
          <p:cNvSpPr>
            <a:spLocks noGrp="1"/>
          </p:cNvSpPr>
          <p:nvPr/>
        </p:nvSpPr>
        <p:spPr>
          <a:xfrm>
            <a:off x="819150" y="409575"/>
            <a:ext cx="1695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0E6B3A"/>
                </a:solidFill>
              </a:defRPr>
            </a:pPr>
            <a:r>
              <a:rPr sz="825" b="1">
                <a:solidFill>
                  <a:srgbClr val="0E6B3A"/>
                </a:solidFill>
              </a:rPr>
              <a:t>Szakirodalmi háttér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C4FA8C-82D3-4C61-97C0-516E421A1E86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81C15"/>
                </a:solidFill>
              </a:defRPr>
            </a:pPr>
            <a:r>
              <a:rPr sz="2550" b="1">
                <a:solidFill>
                  <a:srgbClr val="081C15"/>
                </a:solidFill>
              </a:rPr>
              <a:t>Adatok: erős modell, szűk minta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D6EB7A-479D-463C-8123-D191721F049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10839450" cy="19050"/>
          </a:xfrm>
          <a:prstGeom prst="rect">
            <a:avLst/>
          </a:prstGeom>
          <a:solidFill>
            <a:srgbClr val="7CCB62"/>
          </a:solidFill>
          <a:ln w="0">
            <a:solidFill>
              <a:srgbClr val="7CC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8AFDCB2-91FF-4273-A37F-411145ACA31C}"/>
              </a:ext>
            </a:extLst>
          </p:cNvPr>
          <p:cNvSpPr>
            <a:spLocks noGrp="1"/>
          </p:cNvSpPr>
          <p:nvPr/>
        </p:nvSpPr>
        <p:spPr>
          <a:xfrm>
            <a:off x="819150" y="1581150"/>
            <a:ext cx="4762500" cy="285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67D4DA-A346-43C8-BF02-ABF3D24CE5B6}"/>
              </a:ext>
            </a:extLst>
          </p:cNvPr>
          <p:cNvSpPr>
            <a:spLocks noGrp="1"/>
          </p:cNvSpPr>
          <p:nvPr/>
        </p:nvSpPr>
        <p:spPr>
          <a:xfrm>
            <a:off x="1143000" y="18859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75" b="1">
                <a:solidFill>
                  <a:srgbClr val="081C15"/>
                </a:solidFill>
              </a:defRPr>
            </a:pPr>
            <a:r>
              <a:rPr sz="1875" b="1">
                <a:solidFill>
                  <a:srgbClr val="081C15"/>
                </a:solidFill>
              </a:rPr>
              <a:t>Adatprofil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EBB820-0057-47CA-B96D-BA4AB5FB613C}"/>
              </a:ext>
            </a:extLst>
          </p:cNvPr>
          <p:cNvSpPr>
            <a:spLocks noGrp="1"/>
          </p:cNvSpPr>
          <p:nvPr/>
        </p:nvSpPr>
        <p:spPr>
          <a:xfrm>
            <a:off x="1143000" y="236220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E6B3A"/>
                </a:solidFill>
              </a:defRPr>
            </a:pPr>
            <a:r>
              <a:rPr sz="1650" b="1">
                <a:solidFill>
                  <a:srgbClr val="0E6B3A"/>
                </a:solidFill>
              </a:rPr>
              <a:t>Pima Indians Diabetes Database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0B7FEA-2C3F-4E9F-B3A4-602015C01F99}"/>
              </a:ext>
            </a:extLst>
          </p:cNvPr>
          <p:cNvSpPr>
            <a:spLocks noGrp="1"/>
          </p:cNvSpPr>
          <p:nvPr/>
        </p:nvSpPr>
        <p:spPr>
          <a:xfrm>
            <a:off x="1143000" y="2819400"/>
            <a:ext cx="3619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>
                <a:solidFill>
                  <a:srgbClr val="1C2B27"/>
                </a:solidFill>
              </a:defRPr>
            </a:pPr>
            <a:r>
              <a:rPr sz="1725">
                <a:solidFill>
                  <a:srgbClr val="1C2B27"/>
                </a:solidFill>
              </a:rPr>
              <a:t>768 megfigyelés</a:t>
            </a:r>
          </a:p>
          <a:p>
            <a:pPr>
              <a:buNone/>
              <a:defRPr sz="1725">
                <a:solidFill>
                  <a:srgbClr val="1C2B27"/>
                </a:solidFill>
              </a:defRPr>
            </a:pPr>
            <a:r>
              <a:rPr sz="1725">
                <a:solidFill>
                  <a:srgbClr val="1C2B27"/>
                </a:solidFill>
              </a:rPr>
              <a:t>8 magyarázó változó + Outcome</a:t>
            </a:r>
          </a:p>
          <a:p>
            <a:pPr>
              <a:buNone/>
              <a:defRPr sz="1725">
                <a:solidFill>
                  <a:srgbClr val="1C2B27"/>
                </a:solidFill>
              </a:defRPr>
            </a:pPr>
            <a:r>
              <a:rPr sz="1725">
                <a:solidFill>
                  <a:srgbClr val="1C2B27"/>
                </a:solidFill>
              </a:rPr>
              <a:t>Célváltozó: cukorbeteg / nem cukorbeteg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F9A023-6701-40B7-B2F6-081B5CCBD8DB}"/>
              </a:ext>
            </a:extLst>
          </p:cNvPr>
          <p:cNvSpPr>
            <a:spLocks noGrp="1"/>
          </p:cNvSpPr>
          <p:nvPr/>
        </p:nvSpPr>
        <p:spPr>
          <a:xfrm>
            <a:off x="5905500" y="1676400"/>
            <a:ext cx="57150" cy="2667000"/>
          </a:xfrm>
          <a:prstGeom prst="rect">
            <a:avLst/>
          </a:prstGeom>
          <a:solidFill>
            <a:srgbClr val="0E6B3A"/>
          </a:solidFill>
          <a:ln w="0">
            <a:solidFill>
              <a:srgbClr val="0E6B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124CE0-5B48-4E34-B02B-5EAB1B4918C7}"/>
              </a:ext>
            </a:extLst>
          </p:cNvPr>
          <p:cNvSpPr>
            <a:spLocks noGrp="1"/>
          </p:cNvSpPr>
          <p:nvPr/>
        </p:nvSpPr>
        <p:spPr>
          <a:xfrm>
            <a:off x="6229350" y="18859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100" b="1">
                <a:solidFill>
                  <a:srgbClr val="081C15"/>
                </a:solidFill>
              </a:defRPr>
            </a:pPr>
            <a:r>
              <a:rPr sz="2100" b="1">
                <a:solidFill>
                  <a:srgbClr val="081C15"/>
                </a:solidFill>
              </a:rPr>
              <a:t>A minta értelmezése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AA9A16-1B40-438F-84D3-8420B38A5769}"/>
              </a:ext>
            </a:extLst>
          </p:cNvPr>
          <p:cNvSpPr>
            <a:spLocks noGrp="1"/>
          </p:cNvSpPr>
          <p:nvPr/>
        </p:nvSpPr>
        <p:spPr>
          <a:xfrm>
            <a:off x="6229350" y="2400300"/>
            <a:ext cx="4000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1C2B27"/>
                </a:solidFill>
              </a:defRPr>
            </a:pPr>
            <a:r>
              <a:rPr sz="1575">
                <a:solidFill>
                  <a:srgbClr val="1C2B27"/>
                </a:solidFill>
              </a:rPr>
              <a:t>Legalább 21 éves, Pima származású nők</a:t>
            </a:r>
          </a:p>
          <a:p>
            <a:pPr>
              <a:buNone/>
              <a:defRPr sz="1575">
                <a:solidFill>
                  <a:srgbClr val="1C2B27"/>
                </a:solidFill>
              </a:defRPr>
            </a:pPr>
            <a:r>
              <a:rPr sz="1575">
                <a:solidFill>
                  <a:srgbClr val="1C2B27"/>
                </a:solidFill>
              </a:rPr>
              <a:t>Phoenix, Arizona környéke</a:t>
            </a:r>
          </a:p>
          <a:p>
            <a:pPr>
              <a:buNone/>
              <a:defRPr sz="1575">
                <a:solidFill>
                  <a:srgbClr val="1C2B27"/>
                </a:solidFill>
              </a:defRPr>
            </a:pPr>
            <a:r>
              <a:rPr sz="1575">
                <a:solidFill>
                  <a:srgbClr val="1C2B27"/>
                </a:solidFill>
              </a:rPr>
              <a:t>Történetileg kiemelten vizsgált diabéteszkockázat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3BC257-FD3B-44EC-A8AD-EFB93EC59741}"/>
              </a:ext>
            </a:extLst>
          </p:cNvPr>
          <p:cNvSpPr>
            <a:spLocks noGrp="1"/>
          </p:cNvSpPr>
          <p:nvPr/>
        </p:nvSpPr>
        <p:spPr>
          <a:xfrm>
            <a:off x="6229350" y="3733800"/>
            <a:ext cx="4000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0E6B3A"/>
                </a:solidFill>
              </a:defRPr>
            </a:pPr>
            <a:r>
              <a:rPr sz="1500" b="1">
                <a:solidFill>
                  <a:srgbClr val="0E6B3A"/>
                </a:solidFill>
              </a:rPr>
              <a:t>Nem általános népességi minta:</a:t>
            </a:r>
          </a:p>
          <a:p>
            <a:pPr>
              <a:buNone/>
              <a:defRPr sz="1500" b="1">
                <a:solidFill>
                  <a:srgbClr val="0E6B3A"/>
                </a:solidFill>
              </a:defRPr>
            </a:pPr>
            <a:r>
              <a:rPr sz="1500" b="1">
                <a:solidFill>
                  <a:srgbClr val="0E6B3A"/>
                </a:solidFill>
              </a:rPr>
              <a:t>az eredmények csak óvatosan vihetők át más csoportokra.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5C45F3-ACB8-4C9A-9098-3BAB9996AAC7}"/>
              </a:ext>
            </a:extLst>
          </p:cNvPr>
          <p:cNvSpPr>
            <a:spLocks noGrp="1"/>
          </p:cNvSpPr>
          <p:nvPr/>
        </p:nvSpPr>
        <p:spPr>
          <a:xfrm>
            <a:off x="819150" y="4743450"/>
            <a:ext cx="9810750" cy="14288"/>
          </a:xfrm>
          <a:prstGeom prst="rect">
            <a:avLst/>
          </a:prstGeom>
          <a:solidFill>
            <a:srgbClr val="D6E6DD"/>
          </a:solidFill>
          <a:ln w="0">
            <a:solidFill>
              <a:srgbClr val="D6E6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7B796D-EDB7-410C-97DB-713587E6D607}"/>
              </a:ext>
            </a:extLst>
          </p:cNvPr>
          <p:cNvSpPr>
            <a:spLocks noGrp="1"/>
          </p:cNvSpPr>
          <p:nvPr/>
        </p:nvSpPr>
        <p:spPr>
          <a:xfrm>
            <a:off x="838200" y="4953000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81C15"/>
                </a:solidFill>
              </a:defRPr>
            </a:pPr>
            <a:r>
              <a:rPr sz="1650" b="1">
                <a:solidFill>
                  <a:srgbClr val="081C15"/>
                </a:solidFill>
              </a:rPr>
              <a:t>Miért nem elég csak a modellpontosságot nézni?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B633E8-8E87-41B7-8966-B91172B2436A}"/>
              </a:ext>
            </a:extLst>
          </p:cNvPr>
          <p:cNvSpPr>
            <a:spLocks noGrp="1"/>
          </p:cNvSpPr>
          <p:nvPr/>
        </p:nvSpPr>
        <p:spPr>
          <a:xfrm>
            <a:off x="838200" y="54102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E6B3A"/>
                </a:solidFill>
              </a:defRPr>
            </a:pPr>
            <a:r>
              <a:rPr sz="1425" b="1">
                <a:solidFill>
                  <a:srgbClr val="0E6B3A"/>
                </a:solidFill>
              </a:rPr>
              <a:t>1.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A95D09-6A38-4C01-8504-2741E74D4432}"/>
              </a:ext>
            </a:extLst>
          </p:cNvPr>
          <p:cNvSpPr>
            <a:spLocks noGrp="1"/>
          </p:cNvSpPr>
          <p:nvPr/>
        </p:nvSpPr>
        <p:spPr>
          <a:xfrm>
            <a:off x="1257300" y="53911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81C15"/>
                </a:solidFill>
              </a:defRPr>
            </a:pPr>
            <a:r>
              <a:rPr sz="1350" b="1">
                <a:solidFill>
                  <a:srgbClr val="081C15"/>
                </a:solidFill>
              </a:rPr>
              <a:t>Populációs sajátosság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5D4F6E-DAA7-4F1C-8501-53999DFAD97D}"/>
              </a:ext>
            </a:extLst>
          </p:cNvPr>
          <p:cNvSpPr>
            <a:spLocks noGrp="1"/>
          </p:cNvSpPr>
          <p:nvPr/>
        </p:nvSpPr>
        <p:spPr>
          <a:xfrm>
            <a:off x="1257300" y="5638800"/>
            <a:ext cx="2495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88">
                <a:solidFill>
                  <a:srgbClr val="1C2B27"/>
                </a:solidFill>
              </a:defRPr>
            </a:pPr>
            <a:r>
              <a:rPr sz="1088">
                <a:solidFill>
                  <a:srgbClr val="1C2B27"/>
                </a:solidFill>
              </a:rPr>
              <a:t>A Pima minta speciális egészségügyi és demográfiai háttérrel rendelkezik.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C61836-AA21-48D6-8FFB-65390D3F6A46}"/>
              </a:ext>
            </a:extLst>
          </p:cNvPr>
          <p:cNvSpPr>
            <a:spLocks noGrp="1"/>
          </p:cNvSpPr>
          <p:nvPr/>
        </p:nvSpPr>
        <p:spPr>
          <a:xfrm>
            <a:off x="4171950" y="54102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E6B3A"/>
                </a:solidFill>
              </a:defRPr>
            </a:pPr>
            <a:r>
              <a:rPr sz="1425" b="1">
                <a:solidFill>
                  <a:srgbClr val="0E6B3A"/>
                </a:solidFill>
              </a:rPr>
              <a:t>2.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E9DBB7-668B-44F4-AB3C-2B83A53C29DE}"/>
              </a:ext>
            </a:extLst>
          </p:cNvPr>
          <p:cNvSpPr>
            <a:spLocks noGrp="1"/>
          </p:cNvSpPr>
          <p:nvPr/>
        </p:nvSpPr>
        <p:spPr>
          <a:xfrm>
            <a:off x="4591050" y="53911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81C15"/>
                </a:solidFill>
              </a:defRPr>
            </a:pPr>
            <a:r>
              <a:rPr sz="1350" b="1">
                <a:solidFill>
                  <a:srgbClr val="081C15"/>
                </a:solidFill>
              </a:rPr>
              <a:t>Környezeti tényezők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D7C0A8-646B-4B94-8D78-EDF244E79584}"/>
              </a:ext>
            </a:extLst>
          </p:cNvPr>
          <p:cNvSpPr>
            <a:spLocks noGrp="1"/>
          </p:cNvSpPr>
          <p:nvPr/>
        </p:nvSpPr>
        <p:spPr>
          <a:xfrm>
            <a:off x="4591050" y="5638800"/>
            <a:ext cx="2495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88">
                <a:solidFill>
                  <a:srgbClr val="1C2B27"/>
                </a:solidFill>
              </a:defRPr>
            </a:pPr>
            <a:r>
              <a:rPr sz="1088">
                <a:solidFill>
                  <a:srgbClr val="1C2B27"/>
                </a:solidFill>
              </a:rPr>
              <a:t>Az életmód, étrend és fizikai aktivitás befolyásolhatja a diabétesz gyakoriságát.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E8A4AAA-7ED8-4392-91A5-9220098F51AA}"/>
              </a:ext>
            </a:extLst>
          </p:cNvPr>
          <p:cNvSpPr>
            <a:spLocks noGrp="1"/>
          </p:cNvSpPr>
          <p:nvPr/>
        </p:nvSpPr>
        <p:spPr>
          <a:xfrm>
            <a:off x="7505700" y="54102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E6B3A"/>
                </a:solidFill>
              </a:defRPr>
            </a:pPr>
            <a:r>
              <a:rPr sz="1425" b="1">
                <a:solidFill>
                  <a:srgbClr val="0E6B3A"/>
                </a:solidFill>
              </a:rPr>
              <a:t>3.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F4CEA88-69C5-4166-8313-E8DECCCFDB93}"/>
              </a:ext>
            </a:extLst>
          </p:cNvPr>
          <p:cNvSpPr>
            <a:spLocks noGrp="1"/>
          </p:cNvSpPr>
          <p:nvPr/>
        </p:nvSpPr>
        <p:spPr>
          <a:xfrm>
            <a:off x="7924800" y="53911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81C15"/>
                </a:solidFill>
              </a:defRPr>
            </a:pPr>
            <a:r>
              <a:rPr sz="1350" b="1">
                <a:solidFill>
                  <a:srgbClr val="081C15"/>
                </a:solidFill>
              </a:rPr>
              <a:t>Általánosíthatóság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F1A68C-52C8-4607-890E-94124D9394C1}"/>
              </a:ext>
            </a:extLst>
          </p:cNvPr>
          <p:cNvSpPr>
            <a:spLocks noGrp="1"/>
          </p:cNvSpPr>
          <p:nvPr/>
        </p:nvSpPr>
        <p:spPr>
          <a:xfrm>
            <a:off x="7924800" y="5638800"/>
            <a:ext cx="2495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88">
                <a:solidFill>
                  <a:srgbClr val="1C2B27"/>
                </a:solidFill>
              </a:defRPr>
            </a:pPr>
            <a:r>
              <a:rPr sz="1088">
                <a:solidFill>
                  <a:srgbClr val="1C2B27"/>
                </a:solidFill>
              </a:rPr>
              <a:t>Más korú, nemű vagy etnikai csoporton külön validációra lenne szükség.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E954F6-FC66-4B53-8FAF-287B62609FA2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885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>
                <a:solidFill>
                  <a:srgbClr val="687873"/>
                </a:solidFill>
              </a:defRPr>
            </a:pPr>
            <a:r>
              <a:rPr sz="825">
                <a:solidFill>
                  <a:srgbClr val="687873"/>
                </a:solidFill>
              </a:rPr>
              <a:t>Forrás: NIDDK (1990); Smith és mtsai. (1988); Schulz és mtsai. (2006)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C9AC85-D5E3-43A6-9BEC-F6C10FE1F252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687873"/>
                </a:solidFill>
              </a:defRPr>
            </a:pPr>
            <a:r>
              <a:rPr sz="900" b="1">
                <a:solidFill>
                  <a:srgbClr val="6878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3141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E11E376-9612-46CC-A2E1-B7A067A2D9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0E6B3A"/>
          </a:solidFill>
          <a:ln w="0">
            <a:solidFill>
              <a:srgbClr val="0E6B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1785CE-CE7A-4CD1-8BCB-7A7889BEC952}"/>
              </a:ext>
            </a:extLst>
          </p:cNvPr>
          <p:cNvSpPr>
            <a:spLocks noGrp="1"/>
          </p:cNvSpPr>
          <p:nvPr/>
        </p:nvSpPr>
        <p:spPr>
          <a:xfrm>
            <a:off x="209550" y="0"/>
            <a:ext cx="11982450" cy="76200"/>
          </a:xfrm>
          <a:prstGeom prst="rect">
            <a:avLst/>
          </a:prstGeom>
          <a:solidFill>
            <a:srgbClr val="7CCB62"/>
          </a:solidFill>
          <a:ln w="0">
            <a:solidFill>
              <a:srgbClr val="7CC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109D84-3C76-4D11-B1CD-6CF541F23122}"/>
              </a:ext>
            </a:extLst>
          </p:cNvPr>
          <p:cNvSpPr>
            <a:spLocks noGrp="1"/>
          </p:cNvSpPr>
          <p:nvPr/>
        </p:nvSpPr>
        <p:spPr>
          <a:xfrm>
            <a:off x="11239500" y="0"/>
            <a:ext cx="952500" cy="6858000"/>
          </a:xfrm>
          <a:prstGeom prst="rect">
            <a:avLst/>
          </a:prstGeom>
          <a:solidFill>
            <a:srgbClr val="EEF7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CDDF01B-B333-40D5-8568-44F1241C1199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2000250" cy="285750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 w="9525">
            <a:solidFill>
              <a:srgbClr val="D6E6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9A880E-CE79-4B64-902A-5B9DF91ABAE1}"/>
              </a:ext>
            </a:extLst>
          </p:cNvPr>
          <p:cNvSpPr>
            <a:spLocks noGrp="1"/>
          </p:cNvSpPr>
          <p:nvPr/>
        </p:nvSpPr>
        <p:spPr>
          <a:xfrm>
            <a:off x="819150" y="409575"/>
            <a:ext cx="1695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0E6B3A"/>
                </a:solidFill>
              </a:defRPr>
            </a:pPr>
            <a:r>
              <a:rPr sz="825" b="1">
                <a:solidFill>
                  <a:srgbClr val="0E6B3A"/>
                </a:solidFill>
              </a:rPr>
              <a:t>Pipeline és validáció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7226EC-8E83-4089-B9BB-AFCCBDE72673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81C15"/>
                </a:solidFill>
              </a:defRPr>
            </a:pPr>
            <a:r>
              <a:rPr sz="2550" b="1">
                <a:solidFill>
                  <a:srgbClr val="081C15"/>
                </a:solidFill>
              </a:rPr>
              <a:t>Módszertani keret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A4A5B9-AF38-4CD2-A9D4-CE90816AA00A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10839450" cy="19050"/>
          </a:xfrm>
          <a:prstGeom prst="rect">
            <a:avLst/>
          </a:prstGeom>
          <a:solidFill>
            <a:srgbClr val="7CCB62"/>
          </a:solidFill>
          <a:ln w="0">
            <a:solidFill>
              <a:srgbClr val="7CC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5A5D2BB-FE6D-443B-A682-834E7FD2EE77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847850" cy="1733550"/>
          </a:xfrm>
          <a:prstGeom prst="roundRect">
            <a:avLst>
              <a:gd name="adj" fmla="val 9890"/>
            </a:avLst>
          </a:prstGeom>
          <a:solidFill>
            <a:srgbClr val="FFFFFF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02BF34-13C9-48F1-8D46-2DA0F27897F3}"/>
              </a:ext>
            </a:extLst>
          </p:cNvPr>
          <p:cNvSpPr>
            <a:spLocks noGrp="1"/>
          </p:cNvSpPr>
          <p:nvPr/>
        </p:nvSpPr>
        <p:spPr>
          <a:xfrm>
            <a:off x="857250" y="21717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1">
                <a:solidFill>
                  <a:srgbClr val="081C15"/>
                </a:solidFill>
              </a:defRPr>
            </a:pPr>
            <a:r>
              <a:rPr sz="1725" b="1">
                <a:solidFill>
                  <a:srgbClr val="081C15"/>
                </a:solidFill>
              </a:rPr>
              <a:t>Nyers adatok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C0A1E3-E335-41EF-80AA-EC5F6EFEA868}"/>
              </a:ext>
            </a:extLst>
          </p:cNvPr>
          <p:cNvSpPr>
            <a:spLocks noGrp="1"/>
          </p:cNvSpPr>
          <p:nvPr/>
        </p:nvSpPr>
        <p:spPr>
          <a:xfrm>
            <a:off x="857250" y="26479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1C2B27"/>
                </a:solidFill>
              </a:defRPr>
            </a:pPr>
            <a:r>
              <a:rPr sz="1275">
                <a:solidFill>
                  <a:srgbClr val="1C2B27"/>
                </a:solidFill>
              </a:rPr>
              <a:t>768 megfigyelés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95148F-E735-48CD-A9E5-5EFCC853ED14}"/>
              </a:ext>
            </a:extLst>
          </p:cNvPr>
          <p:cNvSpPr>
            <a:spLocks noGrp="1"/>
          </p:cNvSpPr>
          <p:nvPr/>
        </p:nvSpPr>
        <p:spPr>
          <a:xfrm>
            <a:off x="2571750" y="2571750"/>
            <a:ext cx="361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0E6B3A"/>
                </a:solidFill>
              </a:defRPr>
            </a:pPr>
            <a:r>
              <a:rPr sz="2850" b="1">
                <a:solidFill>
                  <a:srgbClr val="0E6B3A"/>
                </a:solidFill>
              </a:rPr>
              <a:t>→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8786179-B88E-45E8-9233-3FE2C9DD1C01}"/>
              </a:ext>
            </a:extLst>
          </p:cNvPr>
          <p:cNvSpPr>
            <a:spLocks noGrp="1"/>
          </p:cNvSpPr>
          <p:nvPr/>
        </p:nvSpPr>
        <p:spPr>
          <a:xfrm>
            <a:off x="2924175" y="1905000"/>
            <a:ext cx="1847850" cy="1733550"/>
          </a:xfrm>
          <a:prstGeom prst="roundRect">
            <a:avLst>
              <a:gd name="adj" fmla="val 9890"/>
            </a:avLst>
          </a:prstGeom>
          <a:solidFill>
            <a:srgbClr val="EAF6EE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6D6CD5-F891-4D8C-B48B-FC53911E8DE2}"/>
              </a:ext>
            </a:extLst>
          </p:cNvPr>
          <p:cNvSpPr>
            <a:spLocks noGrp="1"/>
          </p:cNvSpPr>
          <p:nvPr/>
        </p:nvSpPr>
        <p:spPr>
          <a:xfrm>
            <a:off x="3095625" y="21717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1">
                <a:solidFill>
                  <a:srgbClr val="081C15"/>
                </a:solidFill>
              </a:defRPr>
            </a:pPr>
            <a:r>
              <a:rPr sz="1725" b="1">
                <a:solidFill>
                  <a:srgbClr val="081C15"/>
                </a:solidFill>
              </a:rPr>
              <a:t>Nullák kezelése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966F9F-716B-4955-A20D-DFD2F749DC1C}"/>
              </a:ext>
            </a:extLst>
          </p:cNvPr>
          <p:cNvSpPr>
            <a:spLocks noGrp="1"/>
          </p:cNvSpPr>
          <p:nvPr/>
        </p:nvSpPr>
        <p:spPr>
          <a:xfrm>
            <a:off x="3095625" y="26479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1C2B27"/>
                </a:solidFill>
              </a:defRPr>
            </a:pPr>
            <a:r>
              <a:rPr sz="1275">
                <a:solidFill>
                  <a:srgbClr val="1C2B27"/>
                </a:solidFill>
              </a:rPr>
              <a:t>medián csak tanító részen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DD3000-C3D7-4D28-903F-56972DED088C}"/>
              </a:ext>
            </a:extLst>
          </p:cNvPr>
          <p:cNvSpPr>
            <a:spLocks noGrp="1"/>
          </p:cNvSpPr>
          <p:nvPr/>
        </p:nvSpPr>
        <p:spPr>
          <a:xfrm>
            <a:off x="4810125" y="2571750"/>
            <a:ext cx="361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0E6B3A"/>
                </a:solidFill>
              </a:defRPr>
            </a:pPr>
            <a:r>
              <a:rPr sz="2850" b="1">
                <a:solidFill>
                  <a:srgbClr val="0E6B3A"/>
                </a:solidFill>
              </a:rPr>
              <a:t>→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D0951C8-AA1B-493E-AC79-C600347967CD}"/>
              </a:ext>
            </a:extLst>
          </p:cNvPr>
          <p:cNvSpPr>
            <a:spLocks noGrp="1"/>
          </p:cNvSpPr>
          <p:nvPr/>
        </p:nvSpPr>
        <p:spPr>
          <a:xfrm>
            <a:off x="5162550" y="1905000"/>
            <a:ext cx="1847850" cy="1733550"/>
          </a:xfrm>
          <a:prstGeom prst="roundRect">
            <a:avLst>
              <a:gd name="adj" fmla="val 9890"/>
            </a:avLst>
          </a:prstGeom>
          <a:solidFill>
            <a:srgbClr val="FFFFFF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3F7D29-A771-4B2B-A4E9-F693D6B0AD0D}"/>
              </a:ext>
            </a:extLst>
          </p:cNvPr>
          <p:cNvSpPr>
            <a:spLocks noGrp="1"/>
          </p:cNvSpPr>
          <p:nvPr/>
        </p:nvSpPr>
        <p:spPr>
          <a:xfrm>
            <a:off x="5334000" y="21717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1">
                <a:solidFill>
                  <a:srgbClr val="081C15"/>
                </a:solidFill>
              </a:defRPr>
            </a:pPr>
            <a:r>
              <a:rPr sz="1725" b="1">
                <a:solidFill>
                  <a:srgbClr val="081C15"/>
                </a:solidFill>
              </a:rPr>
              <a:t>Modellek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02F7FB-ACBC-45FE-8557-746265982D02}"/>
              </a:ext>
            </a:extLst>
          </p:cNvPr>
          <p:cNvSpPr>
            <a:spLocks noGrp="1"/>
          </p:cNvSpPr>
          <p:nvPr/>
        </p:nvSpPr>
        <p:spPr>
          <a:xfrm>
            <a:off x="5334000" y="26479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1C2B27"/>
                </a:solidFill>
              </a:defRPr>
            </a:pPr>
            <a:r>
              <a:rPr sz="1275">
                <a:solidFill>
                  <a:srgbClr val="1C2B27"/>
                </a:solidFill>
              </a:rPr>
              <a:t>LR, RF, XGBoost, GB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4FE691-694C-41CE-97EE-5A8AD4AD03F1}"/>
              </a:ext>
            </a:extLst>
          </p:cNvPr>
          <p:cNvSpPr>
            <a:spLocks noGrp="1"/>
          </p:cNvSpPr>
          <p:nvPr/>
        </p:nvSpPr>
        <p:spPr>
          <a:xfrm>
            <a:off x="7048500" y="2571750"/>
            <a:ext cx="361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0E6B3A"/>
                </a:solidFill>
              </a:defRPr>
            </a:pPr>
            <a:r>
              <a:rPr sz="2850" b="1">
                <a:solidFill>
                  <a:srgbClr val="0E6B3A"/>
                </a:solidFill>
              </a:rPr>
              <a:t>→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24CDBFA-E76F-4D9E-83C5-29AAC6DE89CF}"/>
              </a:ext>
            </a:extLst>
          </p:cNvPr>
          <p:cNvSpPr>
            <a:spLocks noGrp="1"/>
          </p:cNvSpPr>
          <p:nvPr/>
        </p:nvSpPr>
        <p:spPr>
          <a:xfrm>
            <a:off x="7400925" y="1905000"/>
            <a:ext cx="1847850" cy="1733550"/>
          </a:xfrm>
          <a:prstGeom prst="roundRect">
            <a:avLst>
              <a:gd name="adj" fmla="val 9890"/>
            </a:avLst>
          </a:prstGeom>
          <a:solidFill>
            <a:srgbClr val="FFFFFF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509248-F061-463C-9632-2ED568E9F36B}"/>
              </a:ext>
            </a:extLst>
          </p:cNvPr>
          <p:cNvSpPr>
            <a:spLocks noGrp="1"/>
          </p:cNvSpPr>
          <p:nvPr/>
        </p:nvSpPr>
        <p:spPr>
          <a:xfrm>
            <a:off x="7572375" y="21717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1">
                <a:solidFill>
                  <a:srgbClr val="081C15"/>
                </a:solidFill>
              </a:defRPr>
            </a:pPr>
            <a:r>
              <a:rPr sz="1725" b="1">
                <a:solidFill>
                  <a:srgbClr val="081C15"/>
                </a:solidFill>
              </a:rPr>
              <a:t>5-fold CV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2DFE62-D77E-4661-8DDC-FEEAC9786089}"/>
              </a:ext>
            </a:extLst>
          </p:cNvPr>
          <p:cNvSpPr>
            <a:spLocks noGrp="1"/>
          </p:cNvSpPr>
          <p:nvPr/>
        </p:nvSpPr>
        <p:spPr>
          <a:xfrm>
            <a:off x="7572375" y="26479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1C2B27"/>
                </a:solidFill>
              </a:defRPr>
            </a:pPr>
            <a:r>
              <a:rPr sz="1275">
                <a:solidFill>
                  <a:srgbClr val="1C2B27"/>
                </a:solidFill>
              </a:rPr>
              <a:t>rétegzett keresztvalidáció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11B97D-9AC6-46F5-8A29-13C94DDCA66D}"/>
              </a:ext>
            </a:extLst>
          </p:cNvPr>
          <p:cNvSpPr>
            <a:spLocks noGrp="1"/>
          </p:cNvSpPr>
          <p:nvPr/>
        </p:nvSpPr>
        <p:spPr>
          <a:xfrm>
            <a:off x="9286875" y="2571750"/>
            <a:ext cx="361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0E6B3A"/>
                </a:solidFill>
              </a:defRPr>
            </a:pPr>
            <a:r>
              <a:rPr sz="2850" b="1">
                <a:solidFill>
                  <a:srgbClr val="0E6B3A"/>
                </a:solidFill>
              </a:rPr>
              <a:t>→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FB0B986-86E3-4CEA-869A-F62F6845011D}"/>
              </a:ext>
            </a:extLst>
          </p:cNvPr>
          <p:cNvSpPr>
            <a:spLocks noGrp="1"/>
          </p:cNvSpPr>
          <p:nvPr/>
        </p:nvSpPr>
        <p:spPr>
          <a:xfrm>
            <a:off x="9639300" y="1905000"/>
            <a:ext cx="1847850" cy="1733550"/>
          </a:xfrm>
          <a:prstGeom prst="roundRect">
            <a:avLst>
              <a:gd name="adj" fmla="val 9890"/>
            </a:avLst>
          </a:prstGeom>
          <a:solidFill>
            <a:srgbClr val="FFFFFF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527FFED-7486-4EA6-AED9-39989F532720}"/>
              </a:ext>
            </a:extLst>
          </p:cNvPr>
          <p:cNvSpPr>
            <a:spLocks noGrp="1"/>
          </p:cNvSpPr>
          <p:nvPr/>
        </p:nvSpPr>
        <p:spPr>
          <a:xfrm>
            <a:off x="9810750" y="21717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1">
                <a:solidFill>
                  <a:srgbClr val="081C15"/>
                </a:solidFill>
              </a:defRPr>
            </a:pPr>
            <a:r>
              <a:rPr sz="1725" b="1">
                <a:solidFill>
                  <a:srgbClr val="081C15"/>
                </a:solidFill>
              </a:rPr>
              <a:t>Teszt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0C29BF-0DE8-4DEC-B361-657D68E56ABD}"/>
              </a:ext>
            </a:extLst>
          </p:cNvPr>
          <p:cNvSpPr>
            <a:spLocks noGrp="1"/>
          </p:cNvSpPr>
          <p:nvPr/>
        </p:nvSpPr>
        <p:spPr>
          <a:xfrm>
            <a:off x="9810750" y="26479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1C2B27"/>
                </a:solidFill>
              </a:defRPr>
            </a:pPr>
            <a:r>
              <a:rPr sz="1275">
                <a:solidFill>
                  <a:srgbClr val="1C2B27"/>
                </a:solidFill>
              </a:rPr>
              <a:t>elkülönített 20%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095B1F-5722-4D56-BA1C-D0FBD64B2D4A}"/>
              </a:ext>
            </a:extLst>
          </p:cNvPr>
          <p:cNvSpPr>
            <a:spLocks noGrp="1"/>
          </p:cNvSpPr>
          <p:nvPr/>
        </p:nvSpPr>
        <p:spPr>
          <a:xfrm>
            <a:off x="857250" y="4400550"/>
            <a:ext cx="685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025" b="1">
                <a:solidFill>
                  <a:srgbClr val="081C15"/>
                </a:solidFill>
              </a:defRPr>
            </a:pPr>
            <a:r>
              <a:rPr sz="2025" b="1">
                <a:solidFill>
                  <a:srgbClr val="081C15"/>
                </a:solidFill>
              </a:rPr>
              <a:t>Fő optimalizálási mutató: ROC AUC</a:t>
            </a:r>
          </a:p>
          <a:p>
            <a:pPr>
              <a:buNone/>
              <a:defRPr sz="2025" b="1">
                <a:solidFill>
                  <a:srgbClr val="081C15"/>
                </a:solidFill>
              </a:defRPr>
            </a:pPr>
            <a:r>
              <a:rPr sz="2025" b="1">
                <a:solidFill>
                  <a:srgbClr val="081C15"/>
                </a:solidFill>
              </a:rPr>
              <a:t>Kiegészítő mutatók: accuracy, F1, konfúziós mátrix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4A32369-A365-47E1-8FFD-32ECF5358F9C}"/>
              </a:ext>
            </a:extLst>
          </p:cNvPr>
          <p:cNvSpPr>
            <a:spLocks noGrp="1"/>
          </p:cNvSpPr>
          <p:nvPr/>
        </p:nvSpPr>
        <p:spPr>
          <a:xfrm>
            <a:off x="857250" y="52578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>
                <a:solidFill>
                  <a:srgbClr val="1C2B27"/>
                </a:solidFill>
              </a:defRPr>
            </a:pPr>
            <a:r>
              <a:rPr sz="1725">
                <a:solidFill>
                  <a:srgbClr val="1C2B27"/>
                </a:solidFill>
              </a:rPr>
              <a:t>A cél az volt, hogy a modellek közötti különbség ne eltérő előfeldolgozásból származzon.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362CCD-0A1A-4CFA-9F24-EC96169C02D5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885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>
                <a:solidFill>
                  <a:srgbClr val="687873"/>
                </a:solidFill>
              </a:defRPr>
            </a:pPr>
            <a:r>
              <a:rPr sz="825">
                <a:solidFill>
                  <a:srgbClr val="687873"/>
                </a:solidFill>
              </a:rPr>
              <a:t>Forrás: Kuhn és Johnson (2013); Fawcett (2006)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407A3D-1808-4214-87ED-25EC2FD67563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687873"/>
                </a:solidFill>
              </a:defRPr>
            </a:pPr>
            <a:r>
              <a:rPr sz="900" b="1">
                <a:solidFill>
                  <a:srgbClr val="6878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14148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C9E09D6-7182-4942-A08E-D8A3CFAD7E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0E6B3A"/>
          </a:solidFill>
          <a:ln w="0">
            <a:solidFill>
              <a:srgbClr val="0E6B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91B6AC-06B8-486F-8866-64A17118DF1A}"/>
              </a:ext>
            </a:extLst>
          </p:cNvPr>
          <p:cNvSpPr>
            <a:spLocks noGrp="1"/>
          </p:cNvSpPr>
          <p:nvPr/>
        </p:nvSpPr>
        <p:spPr>
          <a:xfrm>
            <a:off x="209550" y="0"/>
            <a:ext cx="11982450" cy="76200"/>
          </a:xfrm>
          <a:prstGeom prst="rect">
            <a:avLst/>
          </a:prstGeom>
          <a:solidFill>
            <a:srgbClr val="7CCB62"/>
          </a:solidFill>
          <a:ln w="0">
            <a:solidFill>
              <a:srgbClr val="7CC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9A2994-5F4D-4738-BE36-8A2D401F2679}"/>
              </a:ext>
            </a:extLst>
          </p:cNvPr>
          <p:cNvSpPr>
            <a:spLocks noGrp="1"/>
          </p:cNvSpPr>
          <p:nvPr/>
        </p:nvSpPr>
        <p:spPr>
          <a:xfrm>
            <a:off x="11239500" y="0"/>
            <a:ext cx="952500" cy="6858000"/>
          </a:xfrm>
          <a:prstGeom prst="rect">
            <a:avLst/>
          </a:prstGeom>
          <a:solidFill>
            <a:srgbClr val="EEF7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6E744BE-0CA5-4AB4-AF93-7B056CD568C1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2000250" cy="285750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 w="9525">
            <a:solidFill>
              <a:srgbClr val="D6E6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8208ED-0D2D-4CB4-BD86-33D25C4F40D2}"/>
              </a:ext>
            </a:extLst>
          </p:cNvPr>
          <p:cNvSpPr>
            <a:spLocks noGrp="1"/>
          </p:cNvSpPr>
          <p:nvPr/>
        </p:nvSpPr>
        <p:spPr>
          <a:xfrm>
            <a:off x="819150" y="409575"/>
            <a:ext cx="1695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0E6B3A"/>
                </a:solidFill>
              </a:defRPr>
            </a:pPr>
            <a:r>
              <a:rPr sz="825" b="1">
                <a:solidFill>
                  <a:srgbClr val="0E6B3A"/>
                </a:solidFill>
              </a:rPr>
              <a:t>Alkalmazott modellek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410172-5550-4798-B43F-770A62D854E5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81C15"/>
                </a:solidFill>
              </a:defRPr>
            </a:pPr>
            <a:r>
              <a:rPr sz="2550" b="1">
                <a:solidFill>
                  <a:srgbClr val="081C15"/>
                </a:solidFill>
              </a:rPr>
              <a:t>Négy modell, eltérő kompromisszumok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A458D7-177E-47D5-BC2B-D166D5A8D2F5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10839450" cy="19050"/>
          </a:xfrm>
          <a:prstGeom prst="rect">
            <a:avLst/>
          </a:prstGeom>
          <a:solidFill>
            <a:srgbClr val="7CCB62"/>
          </a:solidFill>
          <a:ln w="0">
            <a:solidFill>
              <a:srgbClr val="7CC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B2A7BA3-84C1-4E2E-859B-4B7A09380912}"/>
              </a:ext>
            </a:extLst>
          </p:cNvPr>
          <p:cNvSpPr>
            <a:spLocks noGrp="1"/>
          </p:cNvSpPr>
          <p:nvPr/>
        </p:nvSpPr>
        <p:spPr>
          <a:xfrm>
            <a:off x="838200" y="1619250"/>
            <a:ext cx="9810750" cy="66675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CE8B4F-F08B-438E-8F5A-1E60358338B0}"/>
              </a:ext>
            </a:extLst>
          </p:cNvPr>
          <p:cNvSpPr>
            <a:spLocks noGrp="1"/>
          </p:cNvSpPr>
          <p:nvPr/>
        </p:nvSpPr>
        <p:spPr>
          <a:xfrm>
            <a:off x="1104900" y="17716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1">
                <a:solidFill>
                  <a:srgbClr val="081C15"/>
                </a:solidFill>
              </a:defRPr>
            </a:pPr>
            <a:r>
              <a:rPr sz="1725" b="1">
                <a:solidFill>
                  <a:srgbClr val="081C15"/>
                </a:solidFill>
              </a:rPr>
              <a:t>Logisztikus regresszió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474E6A-3DF8-4FD2-B8C7-7DCBD7012461}"/>
              </a:ext>
            </a:extLst>
          </p:cNvPr>
          <p:cNvSpPr>
            <a:spLocks noGrp="1"/>
          </p:cNvSpPr>
          <p:nvPr/>
        </p:nvSpPr>
        <p:spPr>
          <a:xfrm>
            <a:off x="4324350" y="17907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1C2B27"/>
                </a:solidFill>
              </a:defRPr>
            </a:pPr>
            <a:r>
              <a:rPr sz="1575">
                <a:solidFill>
                  <a:srgbClr val="1C2B27"/>
                </a:solidFill>
              </a:rPr>
              <a:t>lineáris, gyors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9217D4-3F9F-4366-AC07-959254A75D93}"/>
              </a:ext>
            </a:extLst>
          </p:cNvPr>
          <p:cNvSpPr>
            <a:spLocks noGrp="1"/>
          </p:cNvSpPr>
          <p:nvPr/>
        </p:nvSpPr>
        <p:spPr>
          <a:xfrm>
            <a:off x="7239000" y="17907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0E6B3A"/>
                </a:solidFill>
              </a:defRPr>
            </a:pPr>
            <a:r>
              <a:rPr sz="1575" b="1">
                <a:solidFill>
                  <a:srgbClr val="0E6B3A"/>
                </a:solidFill>
              </a:rPr>
              <a:t>jól értelmezhető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4C179E3-942D-498A-8B31-6C1E1398D6BD}"/>
              </a:ext>
            </a:extLst>
          </p:cNvPr>
          <p:cNvSpPr>
            <a:spLocks noGrp="1"/>
          </p:cNvSpPr>
          <p:nvPr/>
        </p:nvSpPr>
        <p:spPr>
          <a:xfrm>
            <a:off x="838200" y="2495550"/>
            <a:ext cx="9810750" cy="666750"/>
          </a:xfrm>
          <a:prstGeom prst="roundRect">
            <a:avLst>
              <a:gd name="adj" fmla="val 25714"/>
            </a:avLst>
          </a:prstGeom>
          <a:solidFill>
            <a:srgbClr val="F6FBF8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E30AD3-797A-45B3-902D-A8136A35DDA8}"/>
              </a:ext>
            </a:extLst>
          </p:cNvPr>
          <p:cNvSpPr>
            <a:spLocks noGrp="1"/>
          </p:cNvSpPr>
          <p:nvPr/>
        </p:nvSpPr>
        <p:spPr>
          <a:xfrm>
            <a:off x="1104900" y="26479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1">
                <a:solidFill>
                  <a:srgbClr val="081C15"/>
                </a:solidFill>
              </a:defRPr>
            </a:pPr>
            <a:r>
              <a:rPr sz="1725" b="1">
                <a:solidFill>
                  <a:srgbClr val="081C15"/>
                </a:solidFill>
              </a:rPr>
              <a:t>Random Forest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B41F36-C3DB-45C0-AF1F-203BDC3987BE}"/>
              </a:ext>
            </a:extLst>
          </p:cNvPr>
          <p:cNvSpPr>
            <a:spLocks noGrp="1"/>
          </p:cNvSpPr>
          <p:nvPr/>
        </p:nvSpPr>
        <p:spPr>
          <a:xfrm>
            <a:off x="4324350" y="26670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1C2B27"/>
                </a:solidFill>
              </a:defRPr>
            </a:pPr>
            <a:r>
              <a:rPr sz="1575">
                <a:solidFill>
                  <a:srgbClr val="1C2B27"/>
                </a:solidFill>
              </a:rPr>
              <a:t>sok döntési fa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A5A8EB-ED05-43FB-9AE9-34E4FA4825EE}"/>
              </a:ext>
            </a:extLst>
          </p:cNvPr>
          <p:cNvSpPr>
            <a:spLocks noGrp="1"/>
          </p:cNvSpPr>
          <p:nvPr/>
        </p:nvSpPr>
        <p:spPr>
          <a:xfrm>
            <a:off x="7239000" y="26670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276B9A"/>
                </a:solidFill>
              </a:defRPr>
            </a:pPr>
            <a:r>
              <a:rPr sz="1575" b="1">
                <a:solidFill>
                  <a:srgbClr val="276B9A"/>
                </a:solidFill>
              </a:rPr>
              <a:t>robusztus, stabil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E492174-8F13-46BD-908D-C8BAB51660A6}"/>
              </a:ext>
            </a:extLst>
          </p:cNvPr>
          <p:cNvSpPr>
            <a:spLocks noGrp="1"/>
          </p:cNvSpPr>
          <p:nvPr/>
        </p:nvSpPr>
        <p:spPr>
          <a:xfrm>
            <a:off x="838200" y="3371850"/>
            <a:ext cx="9810750" cy="66675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E49791-3445-4484-8B65-4482B13E2897}"/>
              </a:ext>
            </a:extLst>
          </p:cNvPr>
          <p:cNvSpPr>
            <a:spLocks noGrp="1"/>
          </p:cNvSpPr>
          <p:nvPr/>
        </p:nvSpPr>
        <p:spPr>
          <a:xfrm>
            <a:off x="1104900" y="3524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1">
                <a:solidFill>
                  <a:srgbClr val="081C15"/>
                </a:solidFill>
              </a:defRPr>
            </a:pPr>
            <a:r>
              <a:rPr sz="1725" b="1">
                <a:solidFill>
                  <a:srgbClr val="081C15"/>
                </a:solidFill>
              </a:rPr>
              <a:t>XGBoost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6CCE4F-B2FB-4DB3-B880-95841D3B9EF9}"/>
              </a:ext>
            </a:extLst>
          </p:cNvPr>
          <p:cNvSpPr>
            <a:spLocks noGrp="1"/>
          </p:cNvSpPr>
          <p:nvPr/>
        </p:nvSpPr>
        <p:spPr>
          <a:xfrm>
            <a:off x="4324350" y="35433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1C2B27"/>
                </a:solidFill>
              </a:defRPr>
            </a:pPr>
            <a:r>
              <a:rPr sz="1575">
                <a:solidFill>
                  <a:srgbClr val="1C2B27"/>
                </a:solidFill>
              </a:rPr>
              <a:t>szekvenciális boosting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115FE4-39E5-462A-AE0C-70A9559A284F}"/>
              </a:ext>
            </a:extLst>
          </p:cNvPr>
          <p:cNvSpPr>
            <a:spLocks noGrp="1"/>
          </p:cNvSpPr>
          <p:nvPr/>
        </p:nvSpPr>
        <p:spPr>
          <a:xfrm>
            <a:off x="7239000" y="35433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276B9A"/>
                </a:solidFill>
              </a:defRPr>
            </a:pPr>
            <a:r>
              <a:rPr sz="1575" b="1">
                <a:solidFill>
                  <a:srgbClr val="276B9A"/>
                </a:solidFill>
              </a:rPr>
              <a:t>erős, de érzékenyebb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A8B0860-8872-4EEE-8FBC-553C26C84C42}"/>
              </a:ext>
            </a:extLst>
          </p:cNvPr>
          <p:cNvSpPr>
            <a:spLocks noGrp="1"/>
          </p:cNvSpPr>
          <p:nvPr/>
        </p:nvSpPr>
        <p:spPr>
          <a:xfrm>
            <a:off x="838200" y="4248150"/>
            <a:ext cx="9810750" cy="666750"/>
          </a:xfrm>
          <a:prstGeom prst="roundRect">
            <a:avLst>
              <a:gd name="adj" fmla="val 25714"/>
            </a:avLst>
          </a:prstGeom>
          <a:solidFill>
            <a:srgbClr val="F6FBF8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95D2DB-D65F-48D7-A7D3-8BC53DCB8C5D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1">
                <a:solidFill>
                  <a:srgbClr val="081C15"/>
                </a:solidFill>
              </a:defRPr>
            </a:pPr>
            <a:r>
              <a:rPr sz="1725" b="1">
                <a:solidFill>
                  <a:srgbClr val="081C15"/>
                </a:solidFill>
              </a:rPr>
              <a:t>Gradient Boosting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BEDEF2-E6E7-4273-94DA-EBDFBB1F9185}"/>
              </a:ext>
            </a:extLst>
          </p:cNvPr>
          <p:cNvSpPr>
            <a:spLocks noGrp="1"/>
          </p:cNvSpPr>
          <p:nvPr/>
        </p:nvSpPr>
        <p:spPr>
          <a:xfrm>
            <a:off x="4324350" y="44196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1C2B27"/>
                </a:solidFill>
              </a:defRPr>
            </a:pPr>
            <a:r>
              <a:rPr sz="1575">
                <a:solidFill>
                  <a:srgbClr val="1C2B27"/>
                </a:solidFill>
              </a:rPr>
              <a:t>sekély fák sorozata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0D65A7-C5C3-4549-9E35-805FA79CEF91}"/>
              </a:ext>
            </a:extLst>
          </p:cNvPr>
          <p:cNvSpPr>
            <a:spLocks noGrp="1"/>
          </p:cNvSpPr>
          <p:nvPr/>
        </p:nvSpPr>
        <p:spPr>
          <a:xfrm>
            <a:off x="7239000" y="44196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276B9A"/>
                </a:solidFill>
              </a:defRPr>
            </a:pPr>
            <a:r>
              <a:rPr sz="1575" b="1">
                <a:solidFill>
                  <a:srgbClr val="276B9A"/>
                </a:solidFill>
              </a:rPr>
              <a:t>jó F1-kompromisszum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6F733F6-3D87-4E2A-A7D3-2FBB0AF5A4CB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885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>
                <a:solidFill>
                  <a:srgbClr val="687873"/>
                </a:solidFill>
              </a:defRPr>
            </a:pPr>
            <a:r>
              <a:rPr sz="825">
                <a:solidFill>
                  <a:srgbClr val="687873"/>
                </a:solidFill>
              </a:rPr>
              <a:t>Forrás: Hastie és mtsai. (2009); Breiman (2001); Chen és Guestrin (2016); Friedman (2001)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F00ACC-8EA0-4AAB-A95B-706D6BD65A52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687873"/>
                </a:solidFill>
              </a:defRPr>
            </a:pPr>
            <a:r>
              <a:rPr sz="900" b="1">
                <a:solidFill>
                  <a:srgbClr val="6878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77605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13BCCC0-D3E9-4C9A-8C02-CA395B80F0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0E6B3A"/>
          </a:solidFill>
          <a:ln w="0">
            <a:solidFill>
              <a:srgbClr val="0E6B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4267EB-FD23-4180-B718-A0F9A098A0D6}"/>
              </a:ext>
            </a:extLst>
          </p:cNvPr>
          <p:cNvSpPr>
            <a:spLocks noGrp="1"/>
          </p:cNvSpPr>
          <p:nvPr/>
        </p:nvSpPr>
        <p:spPr>
          <a:xfrm>
            <a:off x="209550" y="0"/>
            <a:ext cx="11982450" cy="76200"/>
          </a:xfrm>
          <a:prstGeom prst="rect">
            <a:avLst/>
          </a:prstGeom>
          <a:solidFill>
            <a:srgbClr val="7CCB62"/>
          </a:solidFill>
          <a:ln w="0">
            <a:solidFill>
              <a:srgbClr val="7CC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BFA8E9-4517-4E12-908F-FE133BD8499E}"/>
              </a:ext>
            </a:extLst>
          </p:cNvPr>
          <p:cNvSpPr>
            <a:spLocks noGrp="1"/>
          </p:cNvSpPr>
          <p:nvPr/>
        </p:nvSpPr>
        <p:spPr>
          <a:xfrm>
            <a:off x="11239500" y="0"/>
            <a:ext cx="952500" cy="6858000"/>
          </a:xfrm>
          <a:prstGeom prst="rect">
            <a:avLst/>
          </a:prstGeom>
          <a:solidFill>
            <a:srgbClr val="EEF7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65414FF-A111-4685-8F63-8CC238029B48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2000250" cy="285750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 w="9525">
            <a:solidFill>
              <a:srgbClr val="D6E6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0F7475-612D-44A4-A784-F59FEC088232}"/>
              </a:ext>
            </a:extLst>
          </p:cNvPr>
          <p:cNvSpPr>
            <a:spLocks noGrp="1"/>
          </p:cNvSpPr>
          <p:nvPr/>
        </p:nvSpPr>
        <p:spPr>
          <a:xfrm>
            <a:off x="819150" y="409575"/>
            <a:ext cx="1695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0E6B3A"/>
                </a:solidFill>
              </a:defRPr>
            </a:pPr>
            <a:r>
              <a:rPr sz="825" b="1">
                <a:solidFill>
                  <a:srgbClr val="0E6B3A"/>
                </a:solidFill>
              </a:rPr>
              <a:t>Eredmények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0F2CDF-336C-4CD7-BDA6-D50A1BBEA4AB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81C15"/>
                </a:solidFill>
              </a:defRPr>
            </a:pPr>
            <a:r>
              <a:rPr sz="2550" b="1">
                <a:solidFill>
                  <a:srgbClr val="081C15"/>
                </a:solidFill>
              </a:rPr>
              <a:t>Teljesítmény: kicsi különbségek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0B9065-A761-41A6-8C89-151C962EEC9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10839450" cy="19050"/>
          </a:xfrm>
          <a:prstGeom prst="rect">
            <a:avLst/>
          </a:prstGeom>
          <a:solidFill>
            <a:srgbClr val="7CCB62"/>
          </a:solidFill>
          <a:ln w="0">
            <a:solidFill>
              <a:srgbClr val="7CCB6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34" name="Chart"/>
          <p:cNvGraphicFramePr/>
          <p:nvPr/>
        </p:nvGraphicFramePr>
        <p:xfrm>
          <a:off x="857250" y="1619250"/>
          <a:ext cx="80962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335449A-C36F-4724-A627-C8E3EF445605}"/>
              </a:ext>
            </a:extLst>
          </p:cNvPr>
          <p:cNvSpPr>
            <a:spLocks noGrp="1"/>
          </p:cNvSpPr>
          <p:nvPr/>
        </p:nvSpPr>
        <p:spPr>
          <a:xfrm>
            <a:off x="9334500" y="1809750"/>
            <a:ext cx="2095500" cy="3143250"/>
          </a:xfrm>
          <a:prstGeom prst="roundRect">
            <a:avLst>
              <a:gd name="adj" fmla="val 8182"/>
            </a:avLst>
          </a:prstGeom>
          <a:solidFill>
            <a:srgbClr val="EAF6EE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BA2545-C9CB-4F5E-95ED-FDB9EE2BBA7B}"/>
              </a:ext>
            </a:extLst>
          </p:cNvPr>
          <p:cNvSpPr>
            <a:spLocks noGrp="1"/>
          </p:cNvSpPr>
          <p:nvPr/>
        </p:nvSpPr>
        <p:spPr>
          <a:xfrm>
            <a:off x="9620250" y="20955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1">
                <a:solidFill>
                  <a:srgbClr val="081C15"/>
                </a:solidFill>
              </a:defRPr>
            </a:pPr>
            <a:r>
              <a:rPr sz="1725" b="1">
                <a:solidFill>
                  <a:srgbClr val="081C15"/>
                </a:solidFill>
              </a:rPr>
              <a:t>Fő üzenet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3BC5FC-5DFD-446E-AED2-A5E15E9949EF}"/>
              </a:ext>
            </a:extLst>
          </p:cNvPr>
          <p:cNvSpPr>
            <a:spLocks noGrp="1"/>
          </p:cNvSpPr>
          <p:nvPr/>
        </p:nvSpPr>
        <p:spPr>
          <a:xfrm>
            <a:off x="9620250" y="2571750"/>
            <a:ext cx="1524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1C2B27"/>
                </a:solidFill>
              </a:defRPr>
            </a:pPr>
            <a:r>
              <a:rPr sz="1275">
                <a:solidFill>
                  <a:srgbClr val="1C2B27"/>
                </a:solidFill>
              </a:rPr>
              <a:t>A Random Forest adta a legjobb teszt ROC AUC és accuracy értéket.</a:t>
            </a:r>
          </a:p>
          <a:p>
            <a:endParaRPr sz="1275">
              <a:solidFill>
                <a:srgbClr val="1C2B27"/>
              </a:solidFill>
            </a:endParaRPr>
          </a:p>
          <a:p>
            <a:pPr>
              <a:buNone/>
              <a:defRPr sz="1275">
                <a:solidFill>
                  <a:srgbClr val="1C2B27"/>
                </a:solidFill>
              </a:defRPr>
            </a:pPr>
            <a:r>
              <a:rPr sz="1275">
                <a:solidFill>
                  <a:srgbClr val="1C2B27"/>
                </a:solidFill>
              </a:rPr>
              <a:t>A Gradient Boosting lett a legerősebb F1-ben.</a:t>
            </a:r>
          </a:p>
          <a:p>
            <a:endParaRPr sz="1275">
              <a:solidFill>
                <a:srgbClr val="1C2B27"/>
              </a:solidFill>
            </a:endParaRPr>
          </a:p>
          <a:p>
            <a:pPr>
              <a:buNone/>
              <a:defRPr sz="1275">
                <a:solidFill>
                  <a:srgbClr val="1C2B27"/>
                </a:solidFill>
              </a:defRPr>
            </a:pPr>
            <a:r>
              <a:rPr sz="1275">
                <a:solidFill>
                  <a:srgbClr val="1C2B27"/>
                </a:solidFill>
              </a:rPr>
              <a:t>A különbségek nem nagyok.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017D3D-F0FC-44EA-8388-0493CE02B15C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885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>
                <a:solidFill>
                  <a:srgbClr val="687873"/>
                </a:solidFill>
              </a:defRPr>
            </a:pPr>
            <a:r>
              <a:rPr sz="825">
                <a:solidFill>
                  <a:srgbClr val="687873"/>
                </a:solidFill>
              </a:rPr>
              <a:t>Forrás: saját számítások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53C05F-EC61-4C66-B073-63D09BCFE283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687873"/>
                </a:solidFill>
              </a:defRPr>
            </a:pPr>
            <a:r>
              <a:rPr sz="900" b="1">
                <a:solidFill>
                  <a:srgbClr val="687873"/>
                </a:solidFill>
              </a:rPr>
              <a:t>7</a:t>
            </a:r>
          </a:p>
        </p:txBody>
      </p:sp>
      <p:sp>
        <p:nvSpPr>
          <p:cNvPr id="15" name="Metric value 1-1">
            <a:extLst>
              <a:ext uri="{FF2B5EF4-FFF2-40B4-BE49-F238E27FC236}">
                <a16:creationId xmlns:a16="http://schemas.microsoft.com/office/drawing/2014/main" id="{41653001-28CD-4CCB-A619-551BF54BA93F}"/>
              </a:ext>
            </a:extLst>
          </p:cNvPr>
          <p:cNvSpPr>
            <a:spLocks noGrp="1"/>
          </p:cNvSpPr>
          <p:nvPr/>
        </p:nvSpPr>
        <p:spPr>
          <a:xfrm>
            <a:off x="1502148" y="1809750"/>
            <a:ext cx="476250" cy="1905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11733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13" b="1">
                <a:solidFill>
                  <a:srgbClr val="11733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1733D"/>
                </a:solidFill>
                <a:latin typeface="Aptos"/>
                <a:ea typeface="Aptos"/>
                <a:cs typeface="Aptos"/>
              </a:rPr>
              <a:t>0,8115</a:t>
            </a:r>
          </a:p>
        </p:txBody>
      </p:sp>
      <p:sp>
        <p:nvSpPr>
          <p:cNvPr id="16" name="Metric value 1-2">
            <a:extLst>
              <a:ext uri="{FF2B5EF4-FFF2-40B4-BE49-F238E27FC236}">
                <a16:creationId xmlns:a16="http://schemas.microsoft.com/office/drawing/2014/main" id="{B592BB91-4B36-49A5-B94D-BB5D3A4CCA22}"/>
              </a:ext>
            </a:extLst>
          </p:cNvPr>
          <p:cNvSpPr>
            <a:spLocks noGrp="1"/>
          </p:cNvSpPr>
          <p:nvPr/>
        </p:nvSpPr>
        <p:spPr>
          <a:xfrm>
            <a:off x="3407148" y="1790700"/>
            <a:ext cx="476250" cy="1905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11733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13" b="1">
                <a:solidFill>
                  <a:srgbClr val="11733D"/>
                </a:solidFill>
                <a:latin typeface="Aptos"/>
                <a:ea typeface="Aptos"/>
                <a:cs typeface="Aptos"/>
              </a:defRPr>
            </a:pPr>
            <a:r>
              <a:rPr sz="713" b="1" dirty="0">
                <a:solidFill>
                  <a:srgbClr val="11733D"/>
                </a:solidFill>
                <a:latin typeface="Aptos"/>
                <a:ea typeface="Aptos"/>
                <a:cs typeface="Aptos"/>
              </a:rPr>
              <a:t>0,8194</a:t>
            </a:r>
          </a:p>
        </p:txBody>
      </p:sp>
      <p:sp>
        <p:nvSpPr>
          <p:cNvPr id="17" name="Metric value 1-3">
            <a:extLst>
              <a:ext uri="{FF2B5EF4-FFF2-40B4-BE49-F238E27FC236}">
                <a16:creationId xmlns:a16="http://schemas.microsoft.com/office/drawing/2014/main" id="{CCC2E662-3325-46A8-96EC-8BB7421F7052}"/>
              </a:ext>
            </a:extLst>
          </p:cNvPr>
          <p:cNvSpPr>
            <a:spLocks noGrp="1"/>
          </p:cNvSpPr>
          <p:nvPr/>
        </p:nvSpPr>
        <p:spPr>
          <a:xfrm>
            <a:off x="5312148" y="1801910"/>
            <a:ext cx="476250" cy="1905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11733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13" b="1">
                <a:solidFill>
                  <a:srgbClr val="11733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1733D"/>
                </a:solidFill>
                <a:latin typeface="Aptos"/>
                <a:ea typeface="Aptos"/>
                <a:cs typeface="Aptos"/>
              </a:rPr>
              <a:t>0,8163</a:t>
            </a:r>
          </a:p>
        </p:txBody>
      </p:sp>
      <p:sp>
        <p:nvSpPr>
          <p:cNvPr id="18" name="Metric value 1-4">
            <a:extLst>
              <a:ext uri="{FF2B5EF4-FFF2-40B4-BE49-F238E27FC236}">
                <a16:creationId xmlns:a16="http://schemas.microsoft.com/office/drawing/2014/main" id="{C3F168F4-2DE3-4590-8F1C-6A2786DF9770}"/>
              </a:ext>
            </a:extLst>
          </p:cNvPr>
          <p:cNvSpPr>
            <a:spLocks noGrp="1"/>
          </p:cNvSpPr>
          <p:nvPr/>
        </p:nvSpPr>
        <p:spPr>
          <a:xfrm>
            <a:off x="7217148" y="1801910"/>
            <a:ext cx="476250" cy="1905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11733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13" b="1">
                <a:solidFill>
                  <a:srgbClr val="11733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1733D"/>
                </a:solidFill>
                <a:latin typeface="Aptos"/>
                <a:ea typeface="Aptos"/>
                <a:cs typeface="Aptos"/>
              </a:rPr>
              <a:t>0,8185</a:t>
            </a:r>
          </a:p>
        </p:txBody>
      </p:sp>
      <p:sp>
        <p:nvSpPr>
          <p:cNvPr id="19" name="Metric value 2-1">
            <a:extLst>
              <a:ext uri="{FF2B5EF4-FFF2-40B4-BE49-F238E27FC236}">
                <a16:creationId xmlns:a16="http://schemas.microsoft.com/office/drawing/2014/main" id="{D3780782-4591-4ACD-A457-B619BE848F6A}"/>
              </a:ext>
            </a:extLst>
          </p:cNvPr>
          <p:cNvSpPr>
            <a:spLocks noGrp="1"/>
          </p:cNvSpPr>
          <p:nvPr/>
        </p:nvSpPr>
        <p:spPr>
          <a:xfrm>
            <a:off x="1933575" y="2099986"/>
            <a:ext cx="476250" cy="1905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2E73A0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13" b="1">
                <a:solidFill>
                  <a:srgbClr val="2E73A0"/>
                </a:solidFill>
                <a:latin typeface="Aptos"/>
                <a:ea typeface="Aptos"/>
                <a:cs typeface="Aptos"/>
              </a:defRPr>
            </a:pPr>
            <a:r>
              <a:rPr sz="713" b="1" dirty="0">
                <a:solidFill>
                  <a:srgbClr val="2E73A0"/>
                </a:solidFill>
                <a:latin typeface="Aptos"/>
                <a:ea typeface="Aptos"/>
                <a:cs typeface="Aptos"/>
              </a:rPr>
              <a:t>0,7338</a:t>
            </a:r>
          </a:p>
        </p:txBody>
      </p:sp>
      <p:sp>
        <p:nvSpPr>
          <p:cNvPr id="20" name="Metric value 2-2">
            <a:extLst>
              <a:ext uri="{FF2B5EF4-FFF2-40B4-BE49-F238E27FC236}">
                <a16:creationId xmlns:a16="http://schemas.microsoft.com/office/drawing/2014/main" id="{EEDAA304-CE68-4ED3-A526-FD0C1723B542}"/>
              </a:ext>
            </a:extLst>
          </p:cNvPr>
          <p:cNvSpPr>
            <a:spLocks noGrp="1"/>
          </p:cNvSpPr>
          <p:nvPr/>
        </p:nvSpPr>
        <p:spPr>
          <a:xfrm>
            <a:off x="3855944" y="2045599"/>
            <a:ext cx="476250" cy="1905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2E73A0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13" b="1">
                <a:solidFill>
                  <a:srgbClr val="2E73A0"/>
                </a:solidFill>
                <a:latin typeface="Aptos"/>
                <a:ea typeface="Aptos"/>
                <a:cs typeface="Aptos"/>
              </a:defRPr>
            </a:pPr>
            <a:r>
              <a:rPr sz="713" b="1" dirty="0">
                <a:solidFill>
                  <a:srgbClr val="2E73A0"/>
                </a:solidFill>
                <a:latin typeface="Aptos"/>
                <a:ea typeface="Aptos"/>
                <a:cs typeface="Aptos"/>
              </a:rPr>
              <a:t>0,7468</a:t>
            </a:r>
          </a:p>
        </p:txBody>
      </p:sp>
      <p:sp>
        <p:nvSpPr>
          <p:cNvPr id="21" name="Metric value 2-3">
            <a:extLst>
              <a:ext uri="{FF2B5EF4-FFF2-40B4-BE49-F238E27FC236}">
                <a16:creationId xmlns:a16="http://schemas.microsoft.com/office/drawing/2014/main" id="{826633D5-6D4D-4998-8EF9-E2D3876621B2}"/>
              </a:ext>
            </a:extLst>
          </p:cNvPr>
          <p:cNvSpPr>
            <a:spLocks noGrp="1"/>
          </p:cNvSpPr>
          <p:nvPr/>
        </p:nvSpPr>
        <p:spPr>
          <a:xfrm>
            <a:off x="5753100" y="2095500"/>
            <a:ext cx="476250" cy="1905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2E73A0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13" b="1">
                <a:solidFill>
                  <a:srgbClr val="2E73A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E73A0"/>
                </a:solidFill>
                <a:latin typeface="Aptos"/>
                <a:ea typeface="Aptos"/>
                <a:cs typeface="Aptos"/>
              </a:rPr>
              <a:t>0,7273</a:t>
            </a:r>
          </a:p>
        </p:txBody>
      </p:sp>
      <p:sp>
        <p:nvSpPr>
          <p:cNvPr id="22" name="Metric value 2-4">
            <a:extLst>
              <a:ext uri="{FF2B5EF4-FFF2-40B4-BE49-F238E27FC236}">
                <a16:creationId xmlns:a16="http://schemas.microsoft.com/office/drawing/2014/main" id="{70E441B0-B703-4CC9-ACE7-E7128FBB5345}"/>
              </a:ext>
            </a:extLst>
          </p:cNvPr>
          <p:cNvSpPr>
            <a:spLocks noGrp="1"/>
          </p:cNvSpPr>
          <p:nvPr/>
        </p:nvSpPr>
        <p:spPr>
          <a:xfrm>
            <a:off x="7650256" y="2060762"/>
            <a:ext cx="476250" cy="1905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2E73A0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13" b="1">
                <a:solidFill>
                  <a:srgbClr val="2E73A0"/>
                </a:solidFill>
                <a:latin typeface="Aptos"/>
                <a:ea typeface="Aptos"/>
                <a:cs typeface="Aptos"/>
              </a:defRPr>
            </a:pPr>
            <a:r>
              <a:rPr sz="713" b="1" dirty="0">
                <a:solidFill>
                  <a:srgbClr val="2E73A0"/>
                </a:solidFill>
                <a:latin typeface="Aptos"/>
                <a:ea typeface="Aptos"/>
                <a:cs typeface="Aptos"/>
              </a:rPr>
              <a:t>0,7403</a:t>
            </a:r>
          </a:p>
        </p:txBody>
      </p:sp>
      <p:sp>
        <p:nvSpPr>
          <p:cNvPr id="23" name="Metric value 3-1">
            <a:extLst>
              <a:ext uri="{FF2B5EF4-FFF2-40B4-BE49-F238E27FC236}">
                <a16:creationId xmlns:a16="http://schemas.microsoft.com/office/drawing/2014/main" id="{228DDCAF-D7EE-4F2E-A97C-C968BC700533}"/>
              </a:ext>
            </a:extLst>
          </p:cNvPr>
          <p:cNvSpPr>
            <a:spLocks noGrp="1"/>
          </p:cNvSpPr>
          <p:nvPr/>
        </p:nvSpPr>
        <p:spPr>
          <a:xfrm>
            <a:off x="2352675" y="2381250"/>
            <a:ext cx="476250" cy="1905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DB8D1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13" b="1">
                <a:solidFill>
                  <a:srgbClr val="DB8D1D"/>
                </a:solidFill>
                <a:latin typeface="Aptos"/>
                <a:ea typeface="Aptos"/>
                <a:cs typeface="Aptos"/>
              </a:defRPr>
            </a:pPr>
            <a:r>
              <a:rPr sz="713" b="1" dirty="0">
                <a:solidFill>
                  <a:srgbClr val="DB8D1D"/>
                </a:solidFill>
                <a:latin typeface="Aptos"/>
                <a:ea typeface="Aptos"/>
                <a:cs typeface="Aptos"/>
              </a:rPr>
              <a:t>0,6496</a:t>
            </a:r>
          </a:p>
        </p:txBody>
      </p:sp>
      <p:sp>
        <p:nvSpPr>
          <p:cNvPr id="24" name="Metric value 3-2">
            <a:extLst>
              <a:ext uri="{FF2B5EF4-FFF2-40B4-BE49-F238E27FC236}">
                <a16:creationId xmlns:a16="http://schemas.microsoft.com/office/drawing/2014/main" id="{70AF01A6-3E25-4505-B03D-EB39A8C77C88}"/>
              </a:ext>
            </a:extLst>
          </p:cNvPr>
          <p:cNvSpPr>
            <a:spLocks noGrp="1"/>
          </p:cNvSpPr>
          <p:nvPr/>
        </p:nvSpPr>
        <p:spPr>
          <a:xfrm>
            <a:off x="4286250" y="2292929"/>
            <a:ext cx="476250" cy="1905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DB8D1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13" b="1">
                <a:solidFill>
                  <a:srgbClr val="DB8D1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B8D1D"/>
                </a:solidFill>
                <a:latin typeface="Aptos"/>
                <a:ea typeface="Aptos"/>
                <a:cs typeface="Aptos"/>
              </a:rPr>
              <a:t>0,6723</a:t>
            </a:r>
          </a:p>
        </p:txBody>
      </p:sp>
      <p:sp>
        <p:nvSpPr>
          <p:cNvPr id="25" name="Metric value 3-3">
            <a:extLst>
              <a:ext uri="{FF2B5EF4-FFF2-40B4-BE49-F238E27FC236}">
                <a16:creationId xmlns:a16="http://schemas.microsoft.com/office/drawing/2014/main" id="{54319003-ADFA-4D92-8CD9-362D12472F98}"/>
              </a:ext>
            </a:extLst>
          </p:cNvPr>
          <p:cNvSpPr>
            <a:spLocks noGrp="1"/>
          </p:cNvSpPr>
          <p:nvPr/>
        </p:nvSpPr>
        <p:spPr>
          <a:xfrm>
            <a:off x="6175562" y="2305050"/>
            <a:ext cx="476250" cy="1905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DB8D1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13" b="1">
                <a:solidFill>
                  <a:srgbClr val="DB8D1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B8D1D"/>
                </a:solidFill>
                <a:latin typeface="Aptos"/>
                <a:ea typeface="Aptos"/>
                <a:cs typeface="Aptos"/>
              </a:rPr>
              <a:t>0,6667</a:t>
            </a:r>
          </a:p>
        </p:txBody>
      </p:sp>
      <p:sp>
        <p:nvSpPr>
          <p:cNvPr id="26" name="Metric value 3-4">
            <a:extLst>
              <a:ext uri="{FF2B5EF4-FFF2-40B4-BE49-F238E27FC236}">
                <a16:creationId xmlns:a16="http://schemas.microsoft.com/office/drawing/2014/main" id="{C980E597-8017-49E0-9003-DCD471B51FC1}"/>
              </a:ext>
            </a:extLst>
          </p:cNvPr>
          <p:cNvSpPr>
            <a:spLocks noGrp="1"/>
          </p:cNvSpPr>
          <p:nvPr/>
        </p:nvSpPr>
        <p:spPr>
          <a:xfrm>
            <a:off x="8080562" y="2269715"/>
            <a:ext cx="476250" cy="1905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DB8D1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13" b="1">
                <a:solidFill>
                  <a:srgbClr val="DB8D1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B8D1D"/>
                </a:solidFill>
                <a:latin typeface="Aptos"/>
                <a:ea typeface="Aptos"/>
                <a:cs typeface="Aptos"/>
              </a:rPr>
              <a:t>0,6774</a:t>
            </a:r>
          </a:p>
        </p:txBody>
      </p:sp>
    </p:spTree>
    <p:extLst>
      <p:ext uri="{BB962C8B-B14F-4D97-AF65-F5344CB8AC3E}">
        <p14:creationId xmlns:p14="http://schemas.microsoft.com/office/powerpoint/2010/main" val="1957576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BC5F03-D3D3-423D-B2BE-C006A11375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0E6B3A"/>
          </a:solidFill>
          <a:ln w="0">
            <a:solidFill>
              <a:srgbClr val="0E6B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A6B901-1AD8-4547-8324-9A696B4BD302}"/>
              </a:ext>
            </a:extLst>
          </p:cNvPr>
          <p:cNvSpPr>
            <a:spLocks noGrp="1"/>
          </p:cNvSpPr>
          <p:nvPr/>
        </p:nvSpPr>
        <p:spPr>
          <a:xfrm>
            <a:off x="209550" y="0"/>
            <a:ext cx="11982450" cy="76200"/>
          </a:xfrm>
          <a:prstGeom prst="rect">
            <a:avLst/>
          </a:prstGeom>
          <a:solidFill>
            <a:srgbClr val="7CCB62"/>
          </a:solidFill>
          <a:ln w="0">
            <a:solidFill>
              <a:srgbClr val="7CC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93C7C5-5CE8-4EFB-AE59-4CFBA1C2A088}"/>
              </a:ext>
            </a:extLst>
          </p:cNvPr>
          <p:cNvSpPr>
            <a:spLocks noGrp="1"/>
          </p:cNvSpPr>
          <p:nvPr/>
        </p:nvSpPr>
        <p:spPr>
          <a:xfrm>
            <a:off x="11239500" y="0"/>
            <a:ext cx="952500" cy="6858000"/>
          </a:xfrm>
          <a:prstGeom prst="rect">
            <a:avLst/>
          </a:prstGeom>
          <a:solidFill>
            <a:srgbClr val="EEF7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9722A5B-3684-4109-9984-2DC308A94CCB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2000250" cy="285750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 w="9525">
            <a:solidFill>
              <a:srgbClr val="D6E6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98EB0A-92E6-4FC4-86F5-8EC64496D29C}"/>
              </a:ext>
            </a:extLst>
          </p:cNvPr>
          <p:cNvSpPr>
            <a:spLocks noGrp="1"/>
          </p:cNvSpPr>
          <p:nvPr/>
        </p:nvSpPr>
        <p:spPr>
          <a:xfrm>
            <a:off x="819150" y="409575"/>
            <a:ext cx="1695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0E6B3A"/>
                </a:solidFill>
              </a:defRPr>
            </a:pPr>
            <a:r>
              <a:rPr sz="825" b="1">
                <a:solidFill>
                  <a:srgbClr val="0E6B3A"/>
                </a:solidFill>
              </a:rPr>
              <a:t>Eredmények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282477-057A-4B00-AA71-5BEBAB02AD2A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81C15"/>
                </a:solidFill>
              </a:defRPr>
            </a:pPr>
            <a:r>
              <a:rPr lang="en-US" sz="2550" b="1" dirty="0"/>
              <a:t>ROC-</a:t>
            </a:r>
            <a:r>
              <a:rPr lang="en-US" sz="2550" b="1" dirty="0" err="1"/>
              <a:t>görbék</a:t>
            </a:r>
            <a:r>
              <a:rPr lang="en-US" sz="2550" b="1" dirty="0"/>
              <a:t> </a:t>
            </a:r>
            <a:r>
              <a:rPr lang="en-US" sz="2550" b="1" dirty="0" err="1"/>
              <a:t>és</a:t>
            </a:r>
            <a:r>
              <a:rPr lang="en-US" sz="2550" b="1" dirty="0"/>
              <a:t> </a:t>
            </a:r>
            <a:r>
              <a:rPr lang="en-US" sz="2550" b="1" dirty="0" err="1"/>
              <a:t>konfúziós</a:t>
            </a:r>
            <a:r>
              <a:rPr lang="en-US" sz="2550" b="1" dirty="0"/>
              <a:t> </a:t>
            </a:r>
            <a:r>
              <a:rPr lang="en-US" sz="2550" b="1" dirty="0" err="1"/>
              <a:t>mátrixok</a:t>
            </a:r>
            <a:endParaRPr lang="en-US" sz="2550" b="1" dirty="0"/>
          </a:p>
          <a:p>
            <a:pPr>
              <a:buNone/>
              <a:defRPr sz="2550" b="1">
                <a:solidFill>
                  <a:srgbClr val="081C15"/>
                </a:solidFill>
              </a:defRPr>
            </a:pPr>
            <a:endParaRPr sz="2550" b="1" dirty="0">
              <a:solidFill>
                <a:srgbClr val="081C15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E8A272-6609-4814-B351-8557A18F0E2C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10839450" cy="19050"/>
          </a:xfrm>
          <a:prstGeom prst="rect">
            <a:avLst/>
          </a:prstGeom>
          <a:solidFill>
            <a:srgbClr val="7CCB62"/>
          </a:solidFill>
          <a:ln w="0">
            <a:solidFill>
              <a:srgbClr val="7CCB6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5858" y="1571625"/>
            <a:ext cx="4276708" cy="3429000"/>
          </a:xfrm>
          <a:prstGeom prst="rect">
            <a:avLst/>
          </a:prstGeom>
        </p:spPr>
      </p:pic>
      <p:pic>
        <p:nvPicPr>
          <p:cNvPr id="24" name="Picture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902894" y="1571625"/>
            <a:ext cx="3339211" cy="3429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7F52014-83A4-4723-B9E0-B780EFC18172}"/>
              </a:ext>
            </a:extLst>
          </p:cNvPr>
          <p:cNvSpPr>
            <a:spLocks noGrp="1"/>
          </p:cNvSpPr>
          <p:nvPr/>
        </p:nvSpPr>
        <p:spPr>
          <a:xfrm>
            <a:off x="1095375" y="5181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081C15"/>
                </a:solidFill>
              </a:defRPr>
            </a:pPr>
            <a:r>
              <a:rPr sz="1350" b="1" dirty="0">
                <a:solidFill>
                  <a:srgbClr val="081C15"/>
                </a:solidFill>
              </a:rPr>
              <a:t>ROC AUC: </a:t>
            </a:r>
            <a:r>
              <a:rPr sz="1350" b="1" dirty="0" err="1">
                <a:solidFill>
                  <a:srgbClr val="081C15"/>
                </a:solidFill>
              </a:rPr>
              <a:t>rangsorolási</a:t>
            </a:r>
            <a:r>
              <a:rPr sz="1350" b="1" dirty="0">
                <a:solidFill>
                  <a:srgbClr val="081C15"/>
                </a:solidFill>
              </a:rPr>
              <a:t> </a:t>
            </a:r>
            <a:r>
              <a:rPr sz="1350" b="1" dirty="0" err="1">
                <a:solidFill>
                  <a:srgbClr val="081C15"/>
                </a:solidFill>
              </a:rPr>
              <a:t>képesség</a:t>
            </a:r>
            <a:endParaRPr sz="1350" b="1" dirty="0">
              <a:solidFill>
                <a:srgbClr val="081C15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B97664-3DA3-457A-9C64-2B8E5BB5EE3D}"/>
              </a:ext>
            </a:extLst>
          </p:cNvPr>
          <p:cNvSpPr>
            <a:spLocks noGrp="1"/>
          </p:cNvSpPr>
          <p:nvPr/>
        </p:nvSpPr>
        <p:spPr>
          <a:xfrm>
            <a:off x="6353175" y="51816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081C15"/>
                </a:solidFill>
              </a:defRPr>
            </a:pPr>
            <a:r>
              <a:rPr sz="1350" b="1" dirty="0" err="1">
                <a:solidFill>
                  <a:srgbClr val="081C15"/>
                </a:solidFill>
              </a:rPr>
              <a:t>Konfúziós</a:t>
            </a:r>
            <a:r>
              <a:rPr sz="1350" b="1" dirty="0">
                <a:solidFill>
                  <a:srgbClr val="081C15"/>
                </a:solidFill>
              </a:rPr>
              <a:t> </a:t>
            </a:r>
            <a:r>
              <a:rPr sz="1350" b="1" dirty="0" err="1">
                <a:solidFill>
                  <a:srgbClr val="081C15"/>
                </a:solidFill>
              </a:rPr>
              <a:t>mátrix</a:t>
            </a:r>
            <a:r>
              <a:rPr sz="1350" b="1" dirty="0">
                <a:solidFill>
                  <a:srgbClr val="081C15"/>
                </a:solidFill>
              </a:rPr>
              <a:t>: a </a:t>
            </a:r>
            <a:r>
              <a:rPr sz="1350" b="1" dirty="0" err="1">
                <a:solidFill>
                  <a:srgbClr val="081C15"/>
                </a:solidFill>
              </a:rPr>
              <a:t>küszöbválasztás</a:t>
            </a:r>
            <a:r>
              <a:rPr sz="1350" b="1" dirty="0">
                <a:solidFill>
                  <a:srgbClr val="081C15"/>
                </a:solidFill>
              </a:rPr>
              <a:t> </a:t>
            </a:r>
            <a:r>
              <a:rPr sz="1350" b="1" dirty="0" err="1">
                <a:solidFill>
                  <a:srgbClr val="081C15"/>
                </a:solidFill>
              </a:rPr>
              <a:t>gyakorlati</a:t>
            </a:r>
            <a:r>
              <a:rPr sz="1350" b="1" dirty="0">
                <a:solidFill>
                  <a:srgbClr val="081C15"/>
                </a:solidFill>
              </a:rPr>
              <a:t> </a:t>
            </a:r>
            <a:r>
              <a:rPr sz="1350" b="1" dirty="0" err="1">
                <a:solidFill>
                  <a:srgbClr val="081C15"/>
                </a:solidFill>
              </a:rPr>
              <a:t>ára</a:t>
            </a:r>
            <a:endParaRPr sz="1350" b="1" dirty="0">
              <a:solidFill>
                <a:srgbClr val="081C15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83F1C4-CC56-40EF-8DC3-936B6A0F8A1C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885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>
                <a:solidFill>
                  <a:srgbClr val="687873"/>
                </a:solidFill>
              </a:defRPr>
            </a:pPr>
            <a:r>
              <a:rPr sz="825">
                <a:solidFill>
                  <a:srgbClr val="687873"/>
                </a:solidFill>
              </a:rPr>
              <a:t>Forrás: saját szerkesztés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82497A-F93A-44CD-96A4-858948AFA015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687873"/>
                </a:solidFill>
              </a:defRPr>
            </a:pPr>
            <a:r>
              <a:rPr sz="900" b="1">
                <a:solidFill>
                  <a:srgbClr val="6878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993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E357CBD-7FBB-410B-9BDB-35B7104979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0E6B3A"/>
          </a:solidFill>
          <a:ln w="0">
            <a:solidFill>
              <a:srgbClr val="0E6B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B02F5A-197E-4538-949C-F1395298C80A}"/>
              </a:ext>
            </a:extLst>
          </p:cNvPr>
          <p:cNvSpPr>
            <a:spLocks noGrp="1"/>
          </p:cNvSpPr>
          <p:nvPr/>
        </p:nvSpPr>
        <p:spPr>
          <a:xfrm>
            <a:off x="209550" y="0"/>
            <a:ext cx="11982450" cy="76200"/>
          </a:xfrm>
          <a:prstGeom prst="rect">
            <a:avLst/>
          </a:prstGeom>
          <a:solidFill>
            <a:srgbClr val="7CCB62"/>
          </a:solidFill>
          <a:ln w="0">
            <a:solidFill>
              <a:srgbClr val="7CC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15D320-F289-4DE5-A67C-FB16A1461372}"/>
              </a:ext>
            </a:extLst>
          </p:cNvPr>
          <p:cNvSpPr>
            <a:spLocks noGrp="1"/>
          </p:cNvSpPr>
          <p:nvPr/>
        </p:nvSpPr>
        <p:spPr>
          <a:xfrm>
            <a:off x="11239500" y="0"/>
            <a:ext cx="952500" cy="6858000"/>
          </a:xfrm>
          <a:prstGeom prst="rect">
            <a:avLst/>
          </a:prstGeom>
          <a:solidFill>
            <a:srgbClr val="EEF7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0292A69-A6A5-476C-8A61-ACD33DC4AB9B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2000250" cy="285750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 w="9525">
            <a:solidFill>
              <a:srgbClr val="D6E6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542DE4-B23F-4BAE-923C-EF240AD99D4A}"/>
              </a:ext>
            </a:extLst>
          </p:cNvPr>
          <p:cNvSpPr>
            <a:spLocks noGrp="1"/>
          </p:cNvSpPr>
          <p:nvPr/>
        </p:nvSpPr>
        <p:spPr>
          <a:xfrm>
            <a:off x="819150" y="409575"/>
            <a:ext cx="1695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0E6B3A"/>
                </a:solidFill>
              </a:defRPr>
            </a:pPr>
            <a:r>
              <a:rPr sz="825" b="1">
                <a:solidFill>
                  <a:srgbClr val="0E6B3A"/>
                </a:solidFill>
              </a:rPr>
              <a:t>Gyakorlati következmény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7858AF-C934-4C6B-91A3-4330D5FF215E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81C15"/>
                </a:solidFill>
              </a:defRPr>
            </a:pPr>
            <a:r>
              <a:rPr sz="2550" b="1">
                <a:solidFill>
                  <a:srgbClr val="081C15"/>
                </a:solidFill>
              </a:rPr>
              <a:t>Értelmezhetőség: Glucose és BMI dominál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AF32D4-5EE1-4A54-BEE8-18DC45109649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10839450" cy="19050"/>
          </a:xfrm>
          <a:prstGeom prst="rect">
            <a:avLst/>
          </a:prstGeom>
          <a:solidFill>
            <a:srgbClr val="7CCB62"/>
          </a:solidFill>
          <a:ln w="0">
            <a:solidFill>
              <a:srgbClr val="7CCB6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6989" y="1466850"/>
            <a:ext cx="6457521" cy="4000500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3B18B12-EA2D-41DB-A4B4-8C257D39CC70}"/>
              </a:ext>
            </a:extLst>
          </p:cNvPr>
          <p:cNvSpPr>
            <a:spLocks noGrp="1"/>
          </p:cNvSpPr>
          <p:nvPr/>
        </p:nvSpPr>
        <p:spPr>
          <a:xfrm>
            <a:off x="7810500" y="1466850"/>
            <a:ext cx="2857500" cy="4000500"/>
          </a:xfrm>
          <a:prstGeom prst="roundRect">
            <a:avLst>
              <a:gd name="adj" fmla="val 6000"/>
            </a:avLst>
          </a:prstGeom>
          <a:solidFill>
            <a:srgbClr val="F6FBF8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D6B785-A531-446B-A377-8BA4B8EAFB3E}"/>
              </a:ext>
            </a:extLst>
          </p:cNvPr>
          <p:cNvSpPr>
            <a:spLocks noGrp="1"/>
          </p:cNvSpPr>
          <p:nvPr/>
        </p:nvSpPr>
        <p:spPr>
          <a:xfrm>
            <a:off x="8115300" y="20383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1">
                <a:solidFill>
                  <a:srgbClr val="081C15"/>
                </a:solidFill>
              </a:defRPr>
            </a:pPr>
            <a:r>
              <a:rPr sz="1800" b="1">
                <a:solidFill>
                  <a:srgbClr val="081C15"/>
                </a:solidFill>
              </a:rPr>
              <a:t>Mit jelent?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AFB048-038D-4C26-A710-13131B4714F0}"/>
              </a:ext>
            </a:extLst>
          </p:cNvPr>
          <p:cNvSpPr>
            <a:spLocks noGrp="1"/>
          </p:cNvSpPr>
          <p:nvPr/>
        </p:nvSpPr>
        <p:spPr>
          <a:xfrm>
            <a:off x="8115300" y="2533650"/>
            <a:ext cx="2238375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1C2B27"/>
                </a:solidFill>
              </a:defRPr>
            </a:pPr>
            <a:r>
              <a:rPr sz="1350" dirty="0">
                <a:solidFill>
                  <a:srgbClr val="1C2B27"/>
                </a:solidFill>
              </a:rPr>
              <a:t>A </a:t>
            </a:r>
            <a:r>
              <a:rPr sz="1350" dirty="0" err="1">
                <a:solidFill>
                  <a:srgbClr val="1C2B27"/>
                </a:solidFill>
              </a:rPr>
              <a:t>logisztikus</a:t>
            </a:r>
            <a:r>
              <a:rPr sz="1350" dirty="0">
                <a:solidFill>
                  <a:srgbClr val="1C2B27"/>
                </a:solidFill>
              </a:rPr>
              <a:t> </a:t>
            </a:r>
            <a:r>
              <a:rPr sz="1350" dirty="0" err="1">
                <a:solidFill>
                  <a:srgbClr val="1C2B27"/>
                </a:solidFill>
              </a:rPr>
              <a:t>regresszió</a:t>
            </a:r>
            <a:r>
              <a:rPr sz="1350" dirty="0">
                <a:solidFill>
                  <a:srgbClr val="1C2B27"/>
                </a:solidFill>
              </a:rPr>
              <a:t> </a:t>
            </a:r>
            <a:r>
              <a:rPr sz="1350" dirty="0" err="1">
                <a:solidFill>
                  <a:srgbClr val="1C2B27"/>
                </a:solidFill>
              </a:rPr>
              <a:t>együtthatói</a:t>
            </a:r>
            <a:r>
              <a:rPr sz="1350" dirty="0">
                <a:solidFill>
                  <a:srgbClr val="1C2B27"/>
                </a:solidFill>
              </a:rPr>
              <a:t> </a:t>
            </a:r>
            <a:r>
              <a:rPr sz="1350" dirty="0" err="1">
                <a:solidFill>
                  <a:srgbClr val="1C2B27"/>
                </a:solidFill>
              </a:rPr>
              <a:t>közvetlenül</a:t>
            </a:r>
            <a:r>
              <a:rPr sz="1350" dirty="0">
                <a:solidFill>
                  <a:srgbClr val="1C2B27"/>
                </a:solidFill>
              </a:rPr>
              <a:t> </a:t>
            </a:r>
            <a:r>
              <a:rPr sz="1350" dirty="0" err="1">
                <a:solidFill>
                  <a:srgbClr val="1C2B27"/>
                </a:solidFill>
              </a:rPr>
              <a:t>mutatják</a:t>
            </a:r>
            <a:r>
              <a:rPr sz="1350" dirty="0">
                <a:solidFill>
                  <a:srgbClr val="1C2B27"/>
                </a:solidFill>
              </a:rPr>
              <a:t> a </a:t>
            </a:r>
            <a:r>
              <a:rPr sz="1350" dirty="0" err="1">
                <a:solidFill>
                  <a:srgbClr val="1C2B27"/>
                </a:solidFill>
              </a:rPr>
              <a:t>változók</a:t>
            </a:r>
            <a:r>
              <a:rPr sz="1350" dirty="0">
                <a:solidFill>
                  <a:srgbClr val="1C2B27"/>
                </a:solidFill>
              </a:rPr>
              <a:t> </a:t>
            </a:r>
            <a:r>
              <a:rPr sz="1350" dirty="0" err="1">
                <a:solidFill>
                  <a:srgbClr val="1C2B27"/>
                </a:solidFill>
              </a:rPr>
              <a:t>irányát</a:t>
            </a:r>
            <a:r>
              <a:rPr sz="1350" dirty="0">
                <a:solidFill>
                  <a:srgbClr val="1C2B27"/>
                </a:solidFill>
              </a:rPr>
              <a:t> </a:t>
            </a:r>
            <a:r>
              <a:rPr sz="1350" dirty="0" err="1">
                <a:solidFill>
                  <a:srgbClr val="1C2B27"/>
                </a:solidFill>
              </a:rPr>
              <a:t>és</a:t>
            </a:r>
            <a:r>
              <a:rPr sz="1350" dirty="0">
                <a:solidFill>
                  <a:srgbClr val="1C2B27"/>
                </a:solidFill>
              </a:rPr>
              <a:t> </a:t>
            </a:r>
            <a:r>
              <a:rPr sz="1350" dirty="0" err="1">
                <a:solidFill>
                  <a:srgbClr val="1C2B27"/>
                </a:solidFill>
              </a:rPr>
              <a:t>relatív</a:t>
            </a:r>
            <a:r>
              <a:rPr sz="1350" dirty="0">
                <a:solidFill>
                  <a:srgbClr val="1C2B27"/>
                </a:solidFill>
              </a:rPr>
              <a:t> </a:t>
            </a:r>
            <a:r>
              <a:rPr sz="1350" dirty="0" err="1">
                <a:solidFill>
                  <a:srgbClr val="1C2B27"/>
                </a:solidFill>
              </a:rPr>
              <a:t>erősségét</a:t>
            </a:r>
            <a:r>
              <a:rPr lang="hu-HU" sz="1350" dirty="0">
                <a:solidFill>
                  <a:srgbClr val="1C2B27"/>
                </a:solidFill>
              </a:rPr>
              <a:t> (standardizált)</a:t>
            </a:r>
            <a:r>
              <a:rPr sz="1350" dirty="0">
                <a:solidFill>
                  <a:srgbClr val="1C2B27"/>
                </a:solidFill>
              </a:rPr>
              <a:t>.</a:t>
            </a:r>
          </a:p>
          <a:p>
            <a:endParaRPr sz="1350" dirty="0">
              <a:solidFill>
                <a:srgbClr val="1C2B27"/>
              </a:solidFill>
            </a:endParaRPr>
          </a:p>
          <a:p>
            <a:pPr>
              <a:buNone/>
              <a:defRPr sz="1350">
                <a:solidFill>
                  <a:srgbClr val="1C2B27"/>
                </a:solidFill>
              </a:defRPr>
            </a:pPr>
            <a:r>
              <a:rPr sz="1350" dirty="0">
                <a:solidFill>
                  <a:srgbClr val="1C2B27"/>
                </a:solidFill>
              </a:rPr>
              <a:t>A Glucose </a:t>
            </a:r>
            <a:r>
              <a:rPr sz="1350" dirty="0" err="1">
                <a:solidFill>
                  <a:srgbClr val="1C2B27"/>
                </a:solidFill>
              </a:rPr>
              <a:t>és</a:t>
            </a:r>
            <a:r>
              <a:rPr sz="1350" dirty="0">
                <a:solidFill>
                  <a:srgbClr val="1C2B27"/>
                </a:solidFill>
              </a:rPr>
              <a:t> a BMI volt a </a:t>
            </a:r>
            <a:r>
              <a:rPr sz="1350" dirty="0" err="1">
                <a:solidFill>
                  <a:srgbClr val="1C2B27"/>
                </a:solidFill>
              </a:rPr>
              <a:t>két</a:t>
            </a:r>
            <a:r>
              <a:rPr sz="1350" dirty="0">
                <a:solidFill>
                  <a:srgbClr val="1C2B27"/>
                </a:solidFill>
              </a:rPr>
              <a:t> </a:t>
            </a:r>
            <a:r>
              <a:rPr sz="1350" dirty="0" err="1">
                <a:solidFill>
                  <a:srgbClr val="1C2B27"/>
                </a:solidFill>
              </a:rPr>
              <a:t>legerősebb</a:t>
            </a:r>
            <a:r>
              <a:rPr sz="1350" dirty="0">
                <a:solidFill>
                  <a:srgbClr val="1C2B27"/>
                </a:solidFill>
              </a:rPr>
              <a:t> </a:t>
            </a:r>
            <a:r>
              <a:rPr sz="1350" dirty="0" err="1">
                <a:solidFill>
                  <a:srgbClr val="1C2B27"/>
                </a:solidFill>
              </a:rPr>
              <a:t>pozitív</a:t>
            </a:r>
            <a:r>
              <a:rPr sz="1350" dirty="0">
                <a:solidFill>
                  <a:srgbClr val="1C2B27"/>
                </a:solidFill>
              </a:rPr>
              <a:t> </a:t>
            </a:r>
            <a:r>
              <a:rPr sz="1350" dirty="0" err="1">
                <a:solidFill>
                  <a:srgbClr val="1C2B27"/>
                </a:solidFill>
              </a:rPr>
              <a:t>prediktor</a:t>
            </a:r>
            <a:r>
              <a:rPr sz="1350" dirty="0">
                <a:solidFill>
                  <a:srgbClr val="1C2B27"/>
                </a:solidFill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533680-B885-4CC7-A52E-40FF52F174DD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885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>
                <a:solidFill>
                  <a:srgbClr val="687873"/>
                </a:solidFill>
              </a:defRPr>
            </a:pPr>
            <a:r>
              <a:rPr sz="825">
                <a:solidFill>
                  <a:srgbClr val="687873"/>
                </a:solidFill>
              </a:rPr>
              <a:t>Forrás: saját számítások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1C5213-2DC8-46EF-ADB9-1B621517DFB5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687873"/>
                </a:solidFill>
              </a:defRPr>
            </a:pPr>
            <a:r>
              <a:rPr sz="900" b="1">
                <a:solidFill>
                  <a:srgbClr val="6878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79393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7E6E27-F531-484C-A045-FC82C4ABE9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0E6B3A"/>
          </a:solidFill>
          <a:ln w="0">
            <a:solidFill>
              <a:srgbClr val="0E6B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C3476A-DF19-4873-8FE1-6AEEF2AF3ED7}"/>
              </a:ext>
            </a:extLst>
          </p:cNvPr>
          <p:cNvSpPr>
            <a:spLocks noGrp="1"/>
          </p:cNvSpPr>
          <p:nvPr/>
        </p:nvSpPr>
        <p:spPr>
          <a:xfrm>
            <a:off x="209550" y="0"/>
            <a:ext cx="11982450" cy="76200"/>
          </a:xfrm>
          <a:prstGeom prst="rect">
            <a:avLst/>
          </a:prstGeom>
          <a:solidFill>
            <a:srgbClr val="7CCB62"/>
          </a:solidFill>
          <a:ln w="0">
            <a:solidFill>
              <a:srgbClr val="7CC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EE8B19-E454-4241-8D92-603DFA3D0C20}"/>
              </a:ext>
            </a:extLst>
          </p:cNvPr>
          <p:cNvSpPr>
            <a:spLocks noGrp="1"/>
          </p:cNvSpPr>
          <p:nvPr/>
        </p:nvSpPr>
        <p:spPr>
          <a:xfrm>
            <a:off x="11239500" y="0"/>
            <a:ext cx="952500" cy="6858000"/>
          </a:xfrm>
          <a:prstGeom prst="rect">
            <a:avLst/>
          </a:prstGeom>
          <a:solidFill>
            <a:srgbClr val="EEF7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69CFA7D-B904-4FFF-A450-66DDC16D60CE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2000250" cy="285750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 w="9525">
            <a:solidFill>
              <a:srgbClr val="D6E6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43A0ED-86BC-4D90-86D3-C6E683885D88}"/>
              </a:ext>
            </a:extLst>
          </p:cNvPr>
          <p:cNvSpPr>
            <a:spLocks noGrp="1"/>
          </p:cNvSpPr>
          <p:nvPr/>
        </p:nvSpPr>
        <p:spPr>
          <a:xfrm>
            <a:off x="819150" y="409575"/>
            <a:ext cx="1695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0E6B3A"/>
                </a:solidFill>
              </a:defRPr>
            </a:pPr>
            <a:r>
              <a:rPr sz="825" b="1">
                <a:solidFill>
                  <a:srgbClr val="0E6B3A"/>
                </a:solidFill>
              </a:rPr>
              <a:t>Robusztussági jel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AC3CF7-35B3-4EBA-B881-BB2857D1DEA7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81C15"/>
                </a:solidFill>
              </a:defRPr>
            </a:pPr>
            <a:r>
              <a:rPr sz="2550" b="1">
                <a:solidFill>
                  <a:srgbClr val="081C15"/>
                </a:solidFill>
              </a:rPr>
              <a:t>Faalapú modellek: hasonló változósorrend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E861EE-AE49-4ABC-93EE-1B430D00C261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10839450" cy="19050"/>
          </a:xfrm>
          <a:prstGeom prst="rect">
            <a:avLst/>
          </a:prstGeom>
          <a:solidFill>
            <a:srgbClr val="7CCB62"/>
          </a:solidFill>
          <a:ln w="0">
            <a:solidFill>
              <a:srgbClr val="7CCB6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9227" y="1428750"/>
            <a:ext cx="6915020" cy="4191000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56FD99D-4206-43D8-8A21-9958E10C7C04}"/>
              </a:ext>
            </a:extLst>
          </p:cNvPr>
          <p:cNvSpPr>
            <a:spLocks noGrp="1"/>
          </p:cNvSpPr>
          <p:nvPr/>
        </p:nvSpPr>
        <p:spPr>
          <a:xfrm>
            <a:off x="8191500" y="1428750"/>
            <a:ext cx="2762250" cy="4191000"/>
          </a:xfrm>
          <a:prstGeom prst="roundRect">
            <a:avLst>
              <a:gd name="adj" fmla="val 6207"/>
            </a:avLst>
          </a:prstGeom>
          <a:solidFill>
            <a:srgbClr val="EAF6EE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768DEA-5F01-494F-88A1-9ABD37A87C52}"/>
              </a:ext>
            </a:extLst>
          </p:cNvPr>
          <p:cNvSpPr>
            <a:spLocks noGrp="1"/>
          </p:cNvSpPr>
          <p:nvPr/>
        </p:nvSpPr>
        <p:spPr>
          <a:xfrm>
            <a:off x="8496300" y="19812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1">
                <a:solidFill>
                  <a:srgbClr val="081C15"/>
                </a:solidFill>
              </a:defRPr>
            </a:pPr>
            <a:r>
              <a:rPr sz="1800" b="1">
                <a:solidFill>
                  <a:srgbClr val="081C15"/>
                </a:solidFill>
              </a:rPr>
              <a:t>Konzisztencia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5571F9-3F45-4B0B-8D5E-954F60F713D3}"/>
              </a:ext>
            </a:extLst>
          </p:cNvPr>
          <p:cNvSpPr>
            <a:spLocks noGrp="1"/>
          </p:cNvSpPr>
          <p:nvPr/>
        </p:nvSpPr>
        <p:spPr>
          <a:xfrm>
            <a:off x="8496300" y="2457450"/>
            <a:ext cx="214312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1C2B27"/>
                </a:solidFill>
              </a:defRPr>
            </a:pPr>
            <a:r>
              <a:rPr sz="1350">
                <a:solidFill>
                  <a:srgbClr val="1C2B27"/>
                </a:solidFill>
              </a:rPr>
              <a:t>A három faalapú modell is főként a Glucose, BMI, Age és Insulin változókat emelte ki.</a:t>
            </a:r>
          </a:p>
          <a:p>
            <a:endParaRPr sz="1350">
              <a:solidFill>
                <a:srgbClr val="1C2B27"/>
              </a:solidFill>
            </a:endParaRPr>
          </a:p>
          <a:p>
            <a:pPr>
              <a:buNone/>
              <a:defRPr sz="1350">
                <a:solidFill>
                  <a:srgbClr val="1C2B27"/>
                </a:solidFill>
              </a:defRPr>
            </a:pPr>
            <a:r>
              <a:rPr sz="1350">
                <a:solidFill>
                  <a:srgbClr val="1C2B27"/>
                </a:solidFill>
              </a:rPr>
              <a:t>Ez erősíti, hogy az eredmény nem egyetlen modell sajátossága.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5997F3-BDBE-45E9-9C6F-D0BF2681C237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885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>
                <a:solidFill>
                  <a:srgbClr val="687873"/>
                </a:solidFill>
              </a:defRPr>
            </a:pPr>
            <a:r>
              <a:rPr sz="825">
                <a:solidFill>
                  <a:srgbClr val="687873"/>
                </a:solidFill>
              </a:rPr>
              <a:t>Forrás: saját számítások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5390AD-2F8D-4609-8327-82213F8BE80C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687873"/>
                </a:solidFill>
              </a:defRPr>
            </a:pPr>
            <a:r>
              <a:rPr sz="900" b="1">
                <a:solidFill>
                  <a:srgbClr val="6878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67588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CCB7DDF-3282-45ED-AEAA-69B9D8B06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0E6B3A"/>
          </a:solidFill>
          <a:ln w="0">
            <a:solidFill>
              <a:srgbClr val="0E6B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CE9776-DE37-43BA-8799-5BB50B3BADF0}"/>
              </a:ext>
            </a:extLst>
          </p:cNvPr>
          <p:cNvSpPr>
            <a:spLocks noGrp="1"/>
          </p:cNvSpPr>
          <p:nvPr/>
        </p:nvSpPr>
        <p:spPr>
          <a:xfrm>
            <a:off x="209550" y="0"/>
            <a:ext cx="11982450" cy="76200"/>
          </a:xfrm>
          <a:prstGeom prst="rect">
            <a:avLst/>
          </a:prstGeom>
          <a:solidFill>
            <a:srgbClr val="7CCB62"/>
          </a:solidFill>
          <a:ln w="0">
            <a:solidFill>
              <a:srgbClr val="7CC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D42CE8-19CC-4B89-BBDD-7238AD7FB3C4}"/>
              </a:ext>
            </a:extLst>
          </p:cNvPr>
          <p:cNvSpPr>
            <a:spLocks noGrp="1"/>
          </p:cNvSpPr>
          <p:nvPr/>
        </p:nvSpPr>
        <p:spPr>
          <a:xfrm>
            <a:off x="11239500" y="0"/>
            <a:ext cx="952500" cy="6858000"/>
          </a:xfrm>
          <a:prstGeom prst="rect">
            <a:avLst/>
          </a:prstGeom>
          <a:solidFill>
            <a:srgbClr val="EEF7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A6D1646-7022-4409-80A2-1EFD85749E91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2000250" cy="285750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 w="9525">
            <a:solidFill>
              <a:srgbClr val="D6E6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07FDA0-4EB5-4549-886A-DFA4A66EF3E1}"/>
              </a:ext>
            </a:extLst>
          </p:cNvPr>
          <p:cNvSpPr>
            <a:spLocks noGrp="1"/>
          </p:cNvSpPr>
          <p:nvPr/>
        </p:nvSpPr>
        <p:spPr>
          <a:xfrm>
            <a:off x="819150" y="409575"/>
            <a:ext cx="1695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0E6B3A"/>
                </a:solidFill>
              </a:defRPr>
            </a:pPr>
            <a:r>
              <a:rPr sz="825" b="1">
                <a:solidFill>
                  <a:srgbClr val="0E6B3A"/>
                </a:solidFill>
              </a:rPr>
              <a:t>Konklúzió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112F6D-35C1-46EC-8F43-E23541650D36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81C15"/>
                </a:solidFill>
              </a:defRPr>
            </a:pPr>
            <a:r>
              <a:rPr sz="2550" b="1" dirty="0" err="1">
                <a:solidFill>
                  <a:srgbClr val="081C15"/>
                </a:solidFill>
              </a:rPr>
              <a:t>Következtetés</a:t>
            </a:r>
            <a:r>
              <a:rPr sz="2550" b="1" dirty="0">
                <a:solidFill>
                  <a:srgbClr val="081C15"/>
                </a:solidFill>
              </a:rPr>
              <a:t>: </a:t>
            </a:r>
            <a:r>
              <a:rPr sz="2550" b="1" dirty="0" err="1">
                <a:solidFill>
                  <a:srgbClr val="081C15"/>
                </a:solidFill>
              </a:rPr>
              <a:t>nincs</a:t>
            </a:r>
            <a:r>
              <a:rPr sz="2550" b="1" dirty="0">
                <a:solidFill>
                  <a:srgbClr val="081C15"/>
                </a:solidFill>
              </a:rPr>
              <a:t> </a:t>
            </a:r>
            <a:r>
              <a:rPr sz="2550" b="1" dirty="0" err="1">
                <a:solidFill>
                  <a:srgbClr val="081C15"/>
                </a:solidFill>
              </a:rPr>
              <a:t>egyetlen</a:t>
            </a:r>
            <a:r>
              <a:rPr sz="2550" b="1" dirty="0">
                <a:solidFill>
                  <a:srgbClr val="081C15"/>
                </a:solidFill>
              </a:rPr>
              <a:t> </a:t>
            </a:r>
            <a:r>
              <a:rPr sz="2550" b="1" dirty="0" err="1">
                <a:solidFill>
                  <a:srgbClr val="081C15"/>
                </a:solidFill>
              </a:rPr>
              <a:t>abszolút</a:t>
            </a:r>
            <a:r>
              <a:rPr sz="2550" b="1" dirty="0">
                <a:solidFill>
                  <a:srgbClr val="081C15"/>
                </a:solidFill>
              </a:rPr>
              <a:t> </a:t>
            </a:r>
            <a:r>
              <a:rPr sz="2550" b="1" dirty="0" err="1">
                <a:solidFill>
                  <a:srgbClr val="081C15"/>
                </a:solidFill>
              </a:rPr>
              <a:t>győztes</a:t>
            </a:r>
            <a:endParaRPr sz="2550" b="1" dirty="0">
              <a:solidFill>
                <a:srgbClr val="081C15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C1DD25-8BB0-4C30-9835-150015529D86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10839450" cy="19050"/>
          </a:xfrm>
          <a:prstGeom prst="rect">
            <a:avLst/>
          </a:prstGeom>
          <a:solidFill>
            <a:srgbClr val="7CCB62"/>
          </a:solidFill>
          <a:ln w="0">
            <a:solidFill>
              <a:srgbClr val="7CC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9D8127B-EF21-405F-BD27-3FAAA4099245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2400300" cy="1409700"/>
          </a:xfrm>
          <a:prstGeom prst="roundRect">
            <a:avLst>
              <a:gd name="adj" fmla="val 12162"/>
            </a:avLst>
          </a:prstGeom>
          <a:solidFill>
            <a:srgbClr val="F6FBF8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B23737-0B9C-4FBD-B80F-338226655D7A}"/>
              </a:ext>
            </a:extLst>
          </p:cNvPr>
          <p:cNvSpPr>
            <a:spLocks noGrp="1"/>
          </p:cNvSpPr>
          <p:nvPr/>
        </p:nvSpPr>
        <p:spPr>
          <a:xfrm>
            <a:off x="971550" y="18669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687873"/>
                </a:solidFill>
              </a:defRPr>
            </a:pPr>
            <a:r>
              <a:rPr sz="1050" b="1">
                <a:solidFill>
                  <a:srgbClr val="687873"/>
                </a:solidFill>
              </a:rPr>
              <a:t>Magyarázhatóság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F0D2F6-1FB7-46B2-BABC-9B0AEFE1B236}"/>
              </a:ext>
            </a:extLst>
          </p:cNvPr>
          <p:cNvSpPr>
            <a:spLocks noGrp="1"/>
          </p:cNvSpPr>
          <p:nvPr/>
        </p:nvSpPr>
        <p:spPr>
          <a:xfrm>
            <a:off x="971550" y="2152650"/>
            <a:ext cx="2019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0E6B3A"/>
                </a:solidFill>
              </a:defRPr>
            </a:pPr>
            <a:r>
              <a:rPr sz="2850" b="1">
                <a:solidFill>
                  <a:srgbClr val="0E6B3A"/>
                </a:solidFill>
              </a:rPr>
              <a:t>LogReg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9CE293-3F76-4F63-88D2-F7B9BA05EEEB}"/>
              </a:ext>
            </a:extLst>
          </p:cNvPr>
          <p:cNvSpPr>
            <a:spLocks noGrp="1"/>
          </p:cNvSpPr>
          <p:nvPr/>
        </p:nvSpPr>
        <p:spPr>
          <a:xfrm>
            <a:off x="971550" y="2657475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1C2B27"/>
                </a:solidFill>
              </a:defRPr>
            </a:pPr>
            <a:r>
              <a:rPr sz="1125">
                <a:solidFill>
                  <a:srgbClr val="1C2B27"/>
                </a:solidFill>
              </a:rPr>
              <a:t>egyszerű, stabil, jól kommunikálható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748CF77-3D7F-468F-90B0-D3FCB982CAC9}"/>
              </a:ext>
            </a:extLst>
          </p:cNvPr>
          <p:cNvSpPr>
            <a:spLocks noGrp="1"/>
          </p:cNvSpPr>
          <p:nvPr/>
        </p:nvSpPr>
        <p:spPr>
          <a:xfrm>
            <a:off x="3543300" y="1695450"/>
            <a:ext cx="2400300" cy="1409700"/>
          </a:xfrm>
          <a:prstGeom prst="roundRect">
            <a:avLst>
              <a:gd name="adj" fmla="val 12162"/>
            </a:avLst>
          </a:prstGeom>
          <a:solidFill>
            <a:srgbClr val="F6FBF8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05D607-E0F1-4DCC-A812-5B02333A6E86}"/>
              </a:ext>
            </a:extLst>
          </p:cNvPr>
          <p:cNvSpPr>
            <a:spLocks noGrp="1"/>
          </p:cNvSpPr>
          <p:nvPr/>
        </p:nvSpPr>
        <p:spPr>
          <a:xfrm>
            <a:off x="3733800" y="18669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687873"/>
                </a:solidFill>
              </a:defRPr>
            </a:pPr>
            <a:r>
              <a:rPr sz="1050" b="1">
                <a:solidFill>
                  <a:srgbClr val="687873"/>
                </a:solidFill>
              </a:rPr>
              <a:t>ROC AUC + accuracy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199CB0-1220-4E1A-9708-F6708D96370C}"/>
              </a:ext>
            </a:extLst>
          </p:cNvPr>
          <p:cNvSpPr>
            <a:spLocks noGrp="1"/>
          </p:cNvSpPr>
          <p:nvPr/>
        </p:nvSpPr>
        <p:spPr>
          <a:xfrm>
            <a:off x="3733800" y="2152650"/>
            <a:ext cx="2019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276B9A"/>
                </a:solidFill>
              </a:defRPr>
            </a:pPr>
            <a:r>
              <a:rPr sz="2850" b="1">
                <a:solidFill>
                  <a:srgbClr val="276B9A"/>
                </a:solidFill>
              </a:rPr>
              <a:t>RF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51FDAB-1CCC-4C85-820D-234867A778F4}"/>
              </a:ext>
            </a:extLst>
          </p:cNvPr>
          <p:cNvSpPr>
            <a:spLocks noGrp="1"/>
          </p:cNvSpPr>
          <p:nvPr/>
        </p:nvSpPr>
        <p:spPr>
          <a:xfrm>
            <a:off x="3733800" y="2657475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1C2B27"/>
                </a:solidFill>
              </a:defRPr>
            </a:pPr>
            <a:r>
              <a:rPr sz="1125">
                <a:solidFill>
                  <a:srgbClr val="1C2B27"/>
                </a:solidFill>
              </a:rPr>
              <a:t>a legjobb teszthalmazbeli rangsorolás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20E7B03-FDE3-439E-B08E-9C49E81EAB93}"/>
              </a:ext>
            </a:extLst>
          </p:cNvPr>
          <p:cNvSpPr>
            <a:spLocks noGrp="1"/>
          </p:cNvSpPr>
          <p:nvPr/>
        </p:nvSpPr>
        <p:spPr>
          <a:xfrm>
            <a:off x="6305550" y="1695450"/>
            <a:ext cx="2400300" cy="1409700"/>
          </a:xfrm>
          <a:prstGeom prst="roundRect">
            <a:avLst>
              <a:gd name="adj" fmla="val 12162"/>
            </a:avLst>
          </a:prstGeom>
          <a:solidFill>
            <a:srgbClr val="F6FBF8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68F2C0-D1D3-4917-B11C-68A7DC737080}"/>
              </a:ext>
            </a:extLst>
          </p:cNvPr>
          <p:cNvSpPr>
            <a:spLocks noGrp="1"/>
          </p:cNvSpPr>
          <p:nvPr/>
        </p:nvSpPr>
        <p:spPr>
          <a:xfrm>
            <a:off x="6496050" y="18669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687873"/>
                </a:solidFill>
              </a:defRPr>
            </a:pPr>
            <a:r>
              <a:rPr sz="1050" b="1">
                <a:solidFill>
                  <a:srgbClr val="687873"/>
                </a:solidFill>
              </a:rPr>
              <a:t>F1-kompromisszum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74CEC1-C84E-4C8E-9553-D91680198D74}"/>
              </a:ext>
            </a:extLst>
          </p:cNvPr>
          <p:cNvSpPr>
            <a:spLocks noGrp="1"/>
          </p:cNvSpPr>
          <p:nvPr/>
        </p:nvSpPr>
        <p:spPr>
          <a:xfrm>
            <a:off x="6496050" y="2152650"/>
            <a:ext cx="2019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D58A22"/>
                </a:solidFill>
              </a:defRPr>
            </a:pPr>
            <a:r>
              <a:rPr sz="2850" b="1">
                <a:solidFill>
                  <a:srgbClr val="D58A22"/>
                </a:solidFill>
              </a:rPr>
              <a:t>GB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FD91F1-04EF-4CF4-9F02-66E392E6819D}"/>
              </a:ext>
            </a:extLst>
          </p:cNvPr>
          <p:cNvSpPr>
            <a:spLocks noGrp="1"/>
          </p:cNvSpPr>
          <p:nvPr/>
        </p:nvSpPr>
        <p:spPr>
          <a:xfrm>
            <a:off x="6496050" y="2657475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1C2B27"/>
                </a:solidFill>
              </a:defRPr>
            </a:pPr>
            <a:r>
              <a:rPr sz="1125">
                <a:solidFill>
                  <a:srgbClr val="1C2B27"/>
                </a:solidFill>
              </a:rPr>
              <a:t>pozitív esetek és téves riasztások egyensúlya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BA7CF91-3522-4BD9-8461-E146EB2F903B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7734300" cy="2171700"/>
          </a:xfrm>
          <a:prstGeom prst="roundRect">
            <a:avLst>
              <a:gd name="adj" fmla="val 12500"/>
            </a:avLst>
          </a:prstGeom>
          <a:solidFill>
            <a:srgbClr val="F6FBF8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B4308C-6B8D-4A1E-9662-3CE4BD855F64}"/>
              </a:ext>
            </a:extLst>
          </p:cNvPr>
          <p:cNvSpPr>
            <a:spLocks noGrp="1"/>
          </p:cNvSpPr>
          <p:nvPr/>
        </p:nvSpPr>
        <p:spPr>
          <a:xfrm>
            <a:off x="1085850" y="38862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75" b="1">
                <a:solidFill>
                  <a:srgbClr val="081C15"/>
                </a:solidFill>
              </a:defRPr>
            </a:pPr>
            <a:r>
              <a:rPr sz="1875" b="1">
                <a:solidFill>
                  <a:srgbClr val="081C15"/>
                </a:solidFill>
              </a:rPr>
              <a:t>Végső állítás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888A5C-5E11-4A7B-9F39-7AEF339EC216}"/>
              </a:ext>
            </a:extLst>
          </p:cNvPr>
          <p:cNvSpPr>
            <a:spLocks noGrp="1"/>
          </p:cNvSpPr>
          <p:nvPr/>
        </p:nvSpPr>
        <p:spPr>
          <a:xfrm>
            <a:off x="1085850" y="4343400"/>
            <a:ext cx="695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75" b="1">
                <a:solidFill>
                  <a:srgbClr val="0E6B3A"/>
                </a:solidFill>
              </a:defRPr>
            </a:pPr>
            <a:r>
              <a:rPr lang="en-US" sz="1875" b="1" dirty="0"/>
              <a:t>A </a:t>
            </a:r>
            <a:r>
              <a:rPr lang="en-US" sz="1875" b="1" dirty="0" err="1"/>
              <a:t>komplex</a:t>
            </a:r>
            <a:r>
              <a:rPr lang="en-US" sz="1875" b="1" dirty="0"/>
              <a:t> </a:t>
            </a:r>
            <a:r>
              <a:rPr lang="en-US" sz="1875" b="1" dirty="0" err="1"/>
              <a:t>faalapú</a:t>
            </a:r>
            <a:r>
              <a:rPr lang="en-US" sz="1875" b="1" dirty="0"/>
              <a:t> </a:t>
            </a:r>
            <a:r>
              <a:rPr lang="en-US" sz="1875" b="1" dirty="0" err="1"/>
              <a:t>modellek</a:t>
            </a:r>
            <a:r>
              <a:rPr lang="en-US" sz="1875" b="1" dirty="0"/>
              <a:t> nem </a:t>
            </a:r>
            <a:r>
              <a:rPr lang="en-US" sz="1875" b="1" dirty="0" err="1"/>
              <a:t>múlták</a:t>
            </a:r>
            <a:r>
              <a:rPr lang="en-US" sz="1875" b="1" dirty="0"/>
              <a:t> </a:t>
            </a:r>
            <a:r>
              <a:rPr lang="en-US" sz="1875" b="1" dirty="0" err="1"/>
              <a:t>felül</a:t>
            </a:r>
            <a:r>
              <a:rPr lang="en-US" sz="1875" b="1" dirty="0"/>
              <a:t> </a:t>
            </a:r>
            <a:r>
              <a:rPr lang="en-US" sz="1875" b="1" dirty="0" err="1"/>
              <a:t>egyértelműen</a:t>
            </a:r>
            <a:r>
              <a:rPr lang="en-US" sz="1875" b="1" dirty="0"/>
              <a:t> a </a:t>
            </a:r>
            <a:r>
              <a:rPr lang="en-US" sz="1875" b="1" dirty="0" err="1"/>
              <a:t>logisztikus</a:t>
            </a:r>
            <a:r>
              <a:rPr lang="en-US" sz="1875" b="1" dirty="0"/>
              <a:t> </a:t>
            </a:r>
            <a:r>
              <a:rPr lang="en-US" sz="1875" b="1" dirty="0" err="1"/>
              <a:t>regressziót</a:t>
            </a:r>
            <a:r>
              <a:rPr lang="en-US" sz="1875" b="1" dirty="0"/>
              <a:t>; a </a:t>
            </a:r>
            <a:r>
              <a:rPr lang="en-US" sz="1875" b="1" dirty="0" err="1"/>
              <a:t>megfelelő</a:t>
            </a:r>
            <a:r>
              <a:rPr lang="en-US" sz="1875" b="1" dirty="0"/>
              <a:t> </a:t>
            </a:r>
            <a:r>
              <a:rPr lang="en-US" sz="1875" b="1" dirty="0" err="1"/>
              <a:t>modell</a:t>
            </a:r>
            <a:r>
              <a:rPr lang="en-US" sz="1875" b="1" dirty="0"/>
              <a:t> </a:t>
            </a:r>
            <a:r>
              <a:rPr lang="en-US" sz="1875" b="1" dirty="0" err="1"/>
              <a:t>az</a:t>
            </a:r>
            <a:r>
              <a:rPr lang="en-US" sz="1875" b="1" dirty="0"/>
              <a:t> </a:t>
            </a:r>
            <a:r>
              <a:rPr lang="en-US" sz="1875" b="1" dirty="0" err="1"/>
              <a:t>alkalmazási</a:t>
            </a:r>
            <a:r>
              <a:rPr lang="en-US" sz="1875" b="1" dirty="0"/>
              <a:t> </a:t>
            </a:r>
            <a:r>
              <a:rPr lang="en-US" sz="1875" b="1" dirty="0" err="1"/>
              <a:t>céltól</a:t>
            </a:r>
            <a:r>
              <a:rPr lang="en-US" sz="1875" b="1" dirty="0"/>
              <a:t> </a:t>
            </a:r>
            <a:r>
              <a:rPr lang="en-US" sz="1875" b="1" dirty="0" err="1"/>
              <a:t>és</a:t>
            </a:r>
            <a:r>
              <a:rPr lang="en-US" sz="1875" b="1" dirty="0"/>
              <a:t> a </a:t>
            </a:r>
            <a:r>
              <a:rPr lang="en-US" sz="1875" b="1" dirty="0" err="1"/>
              <a:t>választott</a:t>
            </a:r>
            <a:r>
              <a:rPr lang="en-US" sz="1875" b="1" dirty="0"/>
              <a:t> </a:t>
            </a:r>
            <a:r>
              <a:rPr lang="en-US" sz="1875" b="1" dirty="0" err="1"/>
              <a:t>teljesítménymutatótól</a:t>
            </a:r>
            <a:r>
              <a:rPr lang="en-US" sz="1875" b="1" dirty="0"/>
              <a:t> </a:t>
            </a:r>
            <a:r>
              <a:rPr lang="en-US" sz="1875" b="1" dirty="0" err="1"/>
              <a:t>függ</a:t>
            </a:r>
            <a:endParaRPr sz="1875" b="1" dirty="0">
              <a:solidFill>
                <a:srgbClr val="0E6B3A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F1C23C5-530F-4379-99F7-BF5E06CAD5D6}"/>
              </a:ext>
            </a:extLst>
          </p:cNvPr>
          <p:cNvSpPr>
            <a:spLocks noGrp="1"/>
          </p:cNvSpPr>
          <p:nvPr/>
        </p:nvSpPr>
        <p:spPr>
          <a:xfrm>
            <a:off x="8953500" y="1695450"/>
            <a:ext cx="2000250" cy="4095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9EF068-1082-4A25-88BA-81CB89A7B99F}"/>
              </a:ext>
            </a:extLst>
          </p:cNvPr>
          <p:cNvSpPr>
            <a:spLocks noGrp="1"/>
          </p:cNvSpPr>
          <p:nvPr/>
        </p:nvSpPr>
        <p:spPr>
          <a:xfrm>
            <a:off x="9239250" y="20002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75" b="1">
                <a:solidFill>
                  <a:srgbClr val="081C15"/>
                </a:solidFill>
              </a:defRPr>
            </a:pPr>
            <a:r>
              <a:rPr sz="1875" b="1">
                <a:solidFill>
                  <a:srgbClr val="081C15"/>
                </a:solidFill>
              </a:rPr>
              <a:t>Korlátok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D44317-30B6-49CC-91B6-7B1C0B46D7A4}"/>
              </a:ext>
            </a:extLst>
          </p:cNvPr>
          <p:cNvSpPr>
            <a:spLocks noGrp="1"/>
          </p:cNvSpPr>
          <p:nvPr/>
        </p:nvSpPr>
        <p:spPr>
          <a:xfrm>
            <a:off x="9239250" y="2495550"/>
            <a:ext cx="142875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>
                <a:solidFill>
                  <a:srgbClr val="1C2B27"/>
                </a:solidFill>
              </a:defRPr>
            </a:pPr>
            <a:r>
              <a:rPr sz="1425">
                <a:solidFill>
                  <a:srgbClr val="1C2B27"/>
                </a:solidFill>
              </a:rPr>
              <a:t>kis minta</a:t>
            </a:r>
          </a:p>
          <a:p>
            <a:pPr>
              <a:buNone/>
              <a:defRPr sz="1425">
                <a:solidFill>
                  <a:srgbClr val="1C2B27"/>
                </a:solidFill>
              </a:defRPr>
            </a:pPr>
            <a:r>
              <a:rPr sz="1425">
                <a:solidFill>
                  <a:srgbClr val="1C2B27"/>
                </a:solidFill>
              </a:rPr>
              <a:t>specifikus populáció</a:t>
            </a:r>
          </a:p>
          <a:p>
            <a:pPr>
              <a:buNone/>
              <a:defRPr sz="1425">
                <a:solidFill>
                  <a:srgbClr val="1C2B27"/>
                </a:solidFill>
              </a:defRPr>
            </a:pPr>
            <a:r>
              <a:rPr sz="1425">
                <a:solidFill>
                  <a:srgbClr val="1C2B27"/>
                </a:solidFill>
              </a:rPr>
              <a:t>külső validáció hiánya</a:t>
            </a:r>
          </a:p>
          <a:p>
            <a:pPr>
              <a:buNone/>
              <a:defRPr sz="1425">
                <a:solidFill>
                  <a:srgbClr val="1C2B27"/>
                </a:solidFill>
              </a:defRPr>
            </a:pPr>
            <a:r>
              <a:rPr sz="1425">
                <a:solidFill>
                  <a:srgbClr val="1C2B27"/>
                </a:solidFill>
              </a:rPr>
              <a:t>rácskeresés korlátai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E7F559-2C8D-42F1-86E6-C064F4D55423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885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>
                <a:solidFill>
                  <a:srgbClr val="687873"/>
                </a:solidFill>
              </a:defRPr>
            </a:pPr>
            <a:r>
              <a:rPr sz="825">
                <a:solidFill>
                  <a:srgbClr val="687873"/>
                </a:solidFill>
              </a:rPr>
              <a:t>Forrás: Kuhn és Johnson (2013)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096215-B654-4E21-9FDA-F79538AF3F64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687873"/>
                </a:solidFill>
              </a:defRPr>
            </a:pPr>
            <a:r>
              <a:rPr sz="900" b="1">
                <a:solidFill>
                  <a:srgbClr val="6878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43542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0A7687-7D2D-FBB1-8942-31802B363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7662CBB2-1664-4D57-9634-B3D8B0CCB5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0E6B3A"/>
          </a:solidFill>
          <a:ln w="0">
            <a:solidFill>
              <a:srgbClr val="0E6B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BD1523-E097-C85D-CB8B-B2B1024CC78C}"/>
              </a:ext>
            </a:extLst>
          </p:cNvPr>
          <p:cNvSpPr>
            <a:spLocks noGrp="1"/>
          </p:cNvSpPr>
          <p:nvPr/>
        </p:nvSpPr>
        <p:spPr>
          <a:xfrm>
            <a:off x="209550" y="0"/>
            <a:ext cx="11982450" cy="76200"/>
          </a:xfrm>
          <a:prstGeom prst="rect">
            <a:avLst/>
          </a:prstGeom>
          <a:solidFill>
            <a:srgbClr val="7CCB62"/>
          </a:solidFill>
          <a:ln w="0">
            <a:solidFill>
              <a:srgbClr val="7CC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F6BC9F-A19F-B4FA-C039-D76DDD2BF2B4}"/>
              </a:ext>
            </a:extLst>
          </p:cNvPr>
          <p:cNvSpPr>
            <a:spLocks noGrp="1"/>
          </p:cNvSpPr>
          <p:nvPr/>
        </p:nvSpPr>
        <p:spPr>
          <a:xfrm>
            <a:off x="11239500" y="0"/>
            <a:ext cx="952500" cy="6858000"/>
          </a:xfrm>
          <a:prstGeom prst="rect">
            <a:avLst/>
          </a:prstGeom>
          <a:solidFill>
            <a:srgbClr val="EEF7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D327C9-07A2-6DAE-5FD5-B75793C5805E}"/>
              </a:ext>
            </a:extLst>
          </p:cNvPr>
          <p:cNvSpPr>
            <a:spLocks noGrp="1"/>
          </p:cNvSpPr>
          <p:nvPr/>
        </p:nvSpPr>
        <p:spPr>
          <a:xfrm>
            <a:off x="2279960" y="877236"/>
            <a:ext cx="7734300" cy="2171700"/>
          </a:xfrm>
          <a:prstGeom prst="roundRect">
            <a:avLst>
              <a:gd name="adj" fmla="val 12500"/>
            </a:avLst>
          </a:prstGeom>
          <a:solidFill>
            <a:srgbClr val="F6FBF8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B32791-EBF1-74DB-6632-A1BD259DAC9D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885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687873"/>
                </a:solidFill>
              </a:defRPr>
            </a:pPr>
            <a:r>
              <a:rPr lang="en-US" sz="825" dirty="0"/>
              <a:t>Forrás: Lakatos Brendon Facebook-</a:t>
            </a:r>
            <a:r>
              <a:rPr lang="en-US" sz="825" dirty="0" err="1"/>
              <a:t>oldala</a:t>
            </a:r>
            <a:r>
              <a:rPr lang="en-US" sz="825" dirty="0"/>
              <a:t> (2026), Index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0F03B9B-D5FD-4A0B-22C6-B0F50B068163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687873"/>
                </a:solidFill>
              </a:defRPr>
            </a:pPr>
            <a:r>
              <a:rPr sz="900" b="1" dirty="0">
                <a:solidFill>
                  <a:srgbClr val="687873"/>
                </a:solidFill>
              </a:rPr>
              <a:t>1</a:t>
            </a:r>
            <a:r>
              <a:rPr lang="hu-HU" sz="900" b="1" dirty="0">
                <a:solidFill>
                  <a:srgbClr val="687873"/>
                </a:solidFill>
              </a:rPr>
              <a:t>2</a:t>
            </a:r>
            <a:endParaRPr sz="900" b="1" dirty="0">
              <a:solidFill>
                <a:srgbClr val="687873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12A23B-9147-F043-AF14-8B453476C929}"/>
              </a:ext>
            </a:extLst>
          </p:cNvPr>
          <p:cNvSpPr txBox="1"/>
          <p:nvPr/>
        </p:nvSpPr>
        <p:spPr>
          <a:xfrm>
            <a:off x="3402980" y="1137744"/>
            <a:ext cx="53860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dirty="0" err="1"/>
              <a:t>Köszönjük</a:t>
            </a:r>
            <a:r>
              <a:rPr lang="en-US" sz="4500" dirty="0"/>
              <a:t> a </a:t>
            </a:r>
            <a:r>
              <a:rPr lang="en-US" sz="4500" dirty="0" err="1"/>
              <a:t>figyelmet</a:t>
            </a:r>
            <a:r>
              <a:rPr lang="en-US" sz="4500" dirty="0"/>
              <a:t>!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9EA2A7C-97C6-72D9-78E6-9608AC9FA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160" y="3429000"/>
            <a:ext cx="3553677" cy="236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069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F4260F-BF40-4754-9961-FE0C14AE17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0E6B3A"/>
          </a:solidFill>
          <a:ln w="0">
            <a:solidFill>
              <a:srgbClr val="0E6B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F3386F-64C7-4503-BA62-A94647C355FE}"/>
              </a:ext>
            </a:extLst>
          </p:cNvPr>
          <p:cNvSpPr>
            <a:spLocks noGrp="1"/>
          </p:cNvSpPr>
          <p:nvPr/>
        </p:nvSpPr>
        <p:spPr>
          <a:xfrm>
            <a:off x="209550" y="0"/>
            <a:ext cx="11982450" cy="76200"/>
          </a:xfrm>
          <a:prstGeom prst="rect">
            <a:avLst/>
          </a:prstGeom>
          <a:solidFill>
            <a:srgbClr val="7CCB62"/>
          </a:solidFill>
          <a:ln w="0">
            <a:solidFill>
              <a:srgbClr val="7CC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1E2B28-6149-4F6B-8B0C-49AF45F7FB34}"/>
              </a:ext>
            </a:extLst>
          </p:cNvPr>
          <p:cNvSpPr>
            <a:spLocks noGrp="1"/>
          </p:cNvSpPr>
          <p:nvPr/>
        </p:nvSpPr>
        <p:spPr>
          <a:xfrm>
            <a:off x="11239500" y="0"/>
            <a:ext cx="952500" cy="6858000"/>
          </a:xfrm>
          <a:prstGeom prst="rect">
            <a:avLst/>
          </a:prstGeom>
          <a:solidFill>
            <a:srgbClr val="EEF7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E326D9-5DBC-42BC-921A-7F6EB69D117E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2000250" cy="285750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 w="9525">
            <a:solidFill>
              <a:srgbClr val="D6E6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995846-6ADD-4819-84CB-E19E0F16601E}"/>
              </a:ext>
            </a:extLst>
          </p:cNvPr>
          <p:cNvSpPr>
            <a:spLocks noGrp="1"/>
          </p:cNvSpPr>
          <p:nvPr/>
        </p:nvSpPr>
        <p:spPr>
          <a:xfrm>
            <a:off x="819150" y="409575"/>
            <a:ext cx="1695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0E6B3A"/>
                </a:solidFill>
              </a:defRPr>
            </a:pPr>
            <a:r>
              <a:rPr sz="825" b="1">
                <a:solidFill>
                  <a:srgbClr val="0E6B3A"/>
                </a:solidFill>
              </a:rPr>
              <a:t>Irodalomjegyzék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124351-320C-45C3-A7B6-07048504A11C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81C15"/>
                </a:solidFill>
              </a:defRPr>
            </a:pPr>
            <a:r>
              <a:rPr sz="2550" b="1">
                <a:solidFill>
                  <a:srgbClr val="081C15"/>
                </a:solidFill>
              </a:rPr>
              <a:t>Hivatkozások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C57584-E2F3-46AB-880B-2FA63CE1D1D1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10839450" cy="19050"/>
          </a:xfrm>
          <a:prstGeom prst="rect">
            <a:avLst/>
          </a:prstGeom>
          <a:solidFill>
            <a:srgbClr val="7CCB62"/>
          </a:solidFill>
          <a:ln w="0">
            <a:solidFill>
              <a:srgbClr val="7CC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452C94-4846-415F-A483-57F2FA213879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5238750" cy="474345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8D7C143-105F-47B6-9238-F68009BC4E13}"/>
              </a:ext>
            </a:extLst>
          </p:cNvPr>
          <p:cNvSpPr>
            <a:spLocks noGrp="1"/>
          </p:cNvSpPr>
          <p:nvPr/>
        </p:nvSpPr>
        <p:spPr>
          <a:xfrm>
            <a:off x="6115050" y="1390650"/>
            <a:ext cx="5238750" cy="474345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D6E6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CFA8D2-92AA-486E-9C9D-A2BA62E759D4}"/>
              </a:ext>
            </a:extLst>
          </p:cNvPr>
          <p:cNvSpPr>
            <a:spLocks noGrp="1"/>
          </p:cNvSpPr>
          <p:nvPr/>
        </p:nvSpPr>
        <p:spPr>
          <a:xfrm>
            <a:off x="876300" y="1581150"/>
            <a:ext cx="4819650" cy="433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40">
                <a:solidFill>
                  <a:srgbClr val="1C2B27"/>
                </a:solidFill>
              </a:defRPr>
            </a:pPr>
            <a:r>
              <a:rPr sz="840" dirty="0" err="1">
                <a:solidFill>
                  <a:srgbClr val="1C2B27"/>
                </a:solidFill>
              </a:rPr>
              <a:t>Breiman</a:t>
            </a:r>
            <a:r>
              <a:rPr sz="840" dirty="0">
                <a:solidFill>
                  <a:srgbClr val="1C2B27"/>
                </a:solidFill>
              </a:rPr>
              <a:t>, L. (2001). Random forests. Machine Learning, 45, 5-32. https://</a:t>
            </a:r>
            <a:r>
              <a:rPr sz="840" dirty="0" err="1">
                <a:solidFill>
                  <a:srgbClr val="1C2B27"/>
                </a:solidFill>
              </a:rPr>
              <a:t>doi.org</a:t>
            </a:r>
            <a:r>
              <a:rPr sz="840" dirty="0">
                <a:solidFill>
                  <a:srgbClr val="1C2B27"/>
                </a:solidFill>
              </a:rPr>
              <a:t>/10.1023/A:1010933404324</a:t>
            </a:r>
          </a:p>
          <a:p>
            <a:endParaRPr sz="840" dirty="0">
              <a:solidFill>
                <a:srgbClr val="1C2B27"/>
              </a:solidFill>
            </a:endParaRPr>
          </a:p>
          <a:p>
            <a:pPr>
              <a:buNone/>
              <a:defRPr sz="840">
                <a:solidFill>
                  <a:srgbClr val="1C2B27"/>
                </a:solidFill>
              </a:defRPr>
            </a:pPr>
            <a:r>
              <a:rPr sz="840" dirty="0">
                <a:solidFill>
                  <a:srgbClr val="1C2B27"/>
                </a:solidFill>
              </a:rPr>
              <a:t>Chen, T., </a:t>
            </a:r>
            <a:r>
              <a:rPr sz="840" dirty="0" err="1">
                <a:solidFill>
                  <a:srgbClr val="1C2B27"/>
                </a:solidFill>
              </a:rPr>
              <a:t>és</a:t>
            </a:r>
            <a:r>
              <a:rPr sz="840" dirty="0">
                <a:solidFill>
                  <a:srgbClr val="1C2B27"/>
                </a:solidFill>
              </a:rPr>
              <a:t> </a:t>
            </a:r>
            <a:r>
              <a:rPr sz="840" dirty="0" err="1">
                <a:solidFill>
                  <a:srgbClr val="1C2B27"/>
                </a:solidFill>
              </a:rPr>
              <a:t>Guestrin</a:t>
            </a:r>
            <a:r>
              <a:rPr sz="840" dirty="0">
                <a:solidFill>
                  <a:srgbClr val="1C2B27"/>
                </a:solidFill>
              </a:rPr>
              <a:t>, C. (2016). </a:t>
            </a:r>
            <a:r>
              <a:rPr sz="840" dirty="0" err="1">
                <a:solidFill>
                  <a:srgbClr val="1C2B27"/>
                </a:solidFill>
              </a:rPr>
              <a:t>XGBoost</a:t>
            </a:r>
            <a:r>
              <a:rPr sz="840" dirty="0">
                <a:solidFill>
                  <a:srgbClr val="1C2B27"/>
                </a:solidFill>
              </a:rPr>
              <a:t>: A scalable tree boosting system. In Proceedings of the 22nd ACM SIGKDD International Conference on Knowledge Discovery and Data Mining (pp. 785-794). Association for Computing Machinery. </a:t>
            </a:r>
            <a:r>
              <a:rPr sz="840" dirty="0">
                <a:solidFill>
                  <a:srgbClr val="1C2B27"/>
                </a:solidFill>
                <a:hlinkClick r:id="rId3"/>
              </a:rPr>
              <a:t>https://doi.org/10.1145/2939672.2939785</a:t>
            </a:r>
            <a:endParaRPr lang="hu-HU" sz="840" dirty="0">
              <a:solidFill>
                <a:srgbClr val="1C2B27"/>
              </a:solidFill>
            </a:endParaRPr>
          </a:p>
          <a:p>
            <a:pPr>
              <a:buNone/>
              <a:defRPr sz="840">
                <a:solidFill>
                  <a:srgbClr val="1C2B27"/>
                </a:solidFill>
              </a:defRPr>
            </a:pPr>
            <a:endParaRPr lang="en-US" sz="840" dirty="0">
              <a:solidFill>
                <a:srgbClr val="1C2B27"/>
              </a:solidFill>
            </a:endParaRPr>
          </a:p>
          <a:p>
            <a:pPr>
              <a:defRPr sz="840">
                <a:solidFill>
                  <a:srgbClr val="1C2B27"/>
                </a:solidFill>
              </a:defRPr>
            </a:pPr>
            <a:r>
              <a:rPr lang="en-US" sz="840" dirty="0"/>
              <a:t>Facebook. (2026. </a:t>
            </a:r>
            <a:r>
              <a:rPr lang="en-US" sz="840" dirty="0" err="1"/>
              <a:t>június</a:t>
            </a:r>
            <a:r>
              <a:rPr lang="en-US" sz="840" dirty="0"/>
              <a:t> 20.). </a:t>
            </a:r>
            <a:r>
              <a:rPr lang="en-US" sz="840" dirty="0" err="1"/>
              <a:t>Képernyőfelvétel</a:t>
            </a:r>
            <a:r>
              <a:rPr lang="en-US" sz="840" dirty="0"/>
              <a:t> Lakatos Brendon </a:t>
            </a:r>
            <a:r>
              <a:rPr lang="en-US" sz="840" dirty="0" err="1"/>
              <a:t>szabadulásáról</a:t>
            </a:r>
            <a:r>
              <a:rPr lang="en-US" sz="840" dirty="0"/>
              <a:t> [</a:t>
            </a:r>
            <a:r>
              <a:rPr lang="en-US" sz="840" dirty="0" err="1"/>
              <a:t>Képernyőfelvétel</a:t>
            </a:r>
            <a:r>
              <a:rPr lang="en-US" sz="840" dirty="0"/>
              <a:t>]. Index. https://</a:t>
            </a:r>
            <a:r>
              <a:rPr lang="en-US" sz="840" dirty="0" err="1"/>
              <a:t>index.hu</a:t>
            </a:r>
            <a:r>
              <a:rPr lang="en-US" sz="840" dirty="0"/>
              <a:t>/</a:t>
            </a:r>
            <a:r>
              <a:rPr lang="en-US" sz="840" dirty="0" err="1"/>
              <a:t>mindekozben</a:t>
            </a:r>
            <a:r>
              <a:rPr lang="en-US" sz="840" dirty="0"/>
              <a:t>/</a:t>
            </a:r>
            <a:r>
              <a:rPr lang="en-US" sz="840" dirty="0" err="1"/>
              <a:t>poszt</a:t>
            </a:r>
            <a:r>
              <a:rPr lang="en-US" sz="840" dirty="0"/>
              <a:t>/2026/06/20/kiszabadult-a-bortonbol-lakatos-brendon-koteg-penz-es-vodka-a-szabadulobulin/</a:t>
            </a:r>
          </a:p>
          <a:p>
            <a:endParaRPr sz="840" dirty="0">
              <a:solidFill>
                <a:srgbClr val="1C2B27"/>
              </a:solidFill>
            </a:endParaRPr>
          </a:p>
          <a:p>
            <a:pPr>
              <a:buNone/>
              <a:defRPr sz="840">
                <a:solidFill>
                  <a:srgbClr val="1C2B27"/>
                </a:solidFill>
              </a:defRPr>
            </a:pPr>
            <a:r>
              <a:rPr sz="840" dirty="0">
                <a:solidFill>
                  <a:srgbClr val="1C2B27"/>
                </a:solidFill>
              </a:rPr>
              <a:t>Fawcett, T. (2006). An introduction to ROC analysis. Pattern Recognition Letters, 27(8), 861-874. https://</a:t>
            </a:r>
            <a:r>
              <a:rPr sz="840" dirty="0" err="1">
                <a:solidFill>
                  <a:srgbClr val="1C2B27"/>
                </a:solidFill>
              </a:rPr>
              <a:t>doi.org</a:t>
            </a:r>
            <a:r>
              <a:rPr sz="840" dirty="0">
                <a:solidFill>
                  <a:srgbClr val="1C2B27"/>
                </a:solidFill>
              </a:rPr>
              <a:t>/10.1016/j.patrec.2005.10.010</a:t>
            </a:r>
          </a:p>
          <a:p>
            <a:endParaRPr sz="840" dirty="0">
              <a:solidFill>
                <a:srgbClr val="1C2B27"/>
              </a:solidFill>
            </a:endParaRPr>
          </a:p>
          <a:p>
            <a:pPr>
              <a:buNone/>
              <a:defRPr sz="840">
                <a:solidFill>
                  <a:srgbClr val="1C2B27"/>
                </a:solidFill>
              </a:defRPr>
            </a:pPr>
            <a:r>
              <a:rPr sz="840" dirty="0">
                <a:solidFill>
                  <a:srgbClr val="1C2B27"/>
                </a:solidFill>
              </a:rPr>
              <a:t>Friedman, J. H. (2001). Greedy function approximation: A gradient boosting machine. The Annals of Statistics, 29(5), 1189-1232. https://</a:t>
            </a:r>
            <a:r>
              <a:rPr sz="840" dirty="0" err="1">
                <a:solidFill>
                  <a:srgbClr val="1C2B27"/>
                </a:solidFill>
              </a:rPr>
              <a:t>doi.org</a:t>
            </a:r>
            <a:r>
              <a:rPr sz="840" dirty="0">
                <a:solidFill>
                  <a:srgbClr val="1C2B27"/>
                </a:solidFill>
              </a:rPr>
              <a:t>/10.1214/</a:t>
            </a:r>
            <a:r>
              <a:rPr sz="840" dirty="0" err="1">
                <a:solidFill>
                  <a:srgbClr val="1C2B27"/>
                </a:solidFill>
              </a:rPr>
              <a:t>aos</a:t>
            </a:r>
            <a:r>
              <a:rPr sz="840" dirty="0">
                <a:solidFill>
                  <a:srgbClr val="1C2B27"/>
                </a:solidFill>
              </a:rPr>
              <a:t>/1013203451</a:t>
            </a:r>
          </a:p>
          <a:p>
            <a:endParaRPr sz="840" dirty="0">
              <a:solidFill>
                <a:srgbClr val="1C2B27"/>
              </a:solidFill>
            </a:endParaRPr>
          </a:p>
          <a:p>
            <a:pPr>
              <a:buNone/>
              <a:defRPr sz="840">
                <a:solidFill>
                  <a:srgbClr val="1C2B27"/>
                </a:solidFill>
              </a:defRPr>
            </a:pPr>
            <a:r>
              <a:rPr sz="840" dirty="0">
                <a:solidFill>
                  <a:srgbClr val="1C2B27"/>
                </a:solidFill>
              </a:rPr>
              <a:t>Hastie, T., </a:t>
            </a:r>
            <a:r>
              <a:rPr sz="840" dirty="0" err="1">
                <a:solidFill>
                  <a:srgbClr val="1C2B27"/>
                </a:solidFill>
              </a:rPr>
              <a:t>Tibshirani</a:t>
            </a:r>
            <a:r>
              <a:rPr sz="840" dirty="0">
                <a:solidFill>
                  <a:srgbClr val="1C2B27"/>
                </a:solidFill>
              </a:rPr>
              <a:t>, R., </a:t>
            </a:r>
            <a:r>
              <a:rPr sz="840" dirty="0" err="1">
                <a:solidFill>
                  <a:srgbClr val="1C2B27"/>
                </a:solidFill>
              </a:rPr>
              <a:t>és</a:t>
            </a:r>
            <a:r>
              <a:rPr sz="840" dirty="0">
                <a:solidFill>
                  <a:srgbClr val="1C2B27"/>
                </a:solidFill>
              </a:rPr>
              <a:t> Friedman, J. (2009). The elements of statistical learning: Data mining, inference, and prediction (2. </a:t>
            </a:r>
            <a:r>
              <a:rPr sz="840" dirty="0" err="1">
                <a:solidFill>
                  <a:srgbClr val="1C2B27"/>
                </a:solidFill>
              </a:rPr>
              <a:t>kiad</a:t>
            </a:r>
            <a:r>
              <a:rPr sz="840" dirty="0">
                <a:solidFill>
                  <a:srgbClr val="1C2B27"/>
                </a:solidFill>
              </a:rPr>
              <a:t>.). Springer. https://</a:t>
            </a:r>
            <a:r>
              <a:rPr sz="840" dirty="0" err="1">
                <a:solidFill>
                  <a:srgbClr val="1C2B27"/>
                </a:solidFill>
              </a:rPr>
              <a:t>doi.org</a:t>
            </a:r>
            <a:r>
              <a:rPr sz="840" dirty="0">
                <a:solidFill>
                  <a:srgbClr val="1C2B27"/>
                </a:solidFill>
              </a:rPr>
              <a:t>/10.1007/978-0-387-84858-7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C405A-BC4A-4DE8-9419-4E879E30D7A8}"/>
              </a:ext>
            </a:extLst>
          </p:cNvPr>
          <p:cNvSpPr>
            <a:spLocks noGrp="1"/>
          </p:cNvSpPr>
          <p:nvPr/>
        </p:nvSpPr>
        <p:spPr>
          <a:xfrm>
            <a:off x="6324600" y="1581150"/>
            <a:ext cx="4819650" cy="433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40">
                <a:solidFill>
                  <a:srgbClr val="1C2B27"/>
                </a:solidFill>
              </a:defRPr>
            </a:pPr>
            <a:r>
              <a:rPr sz="840">
                <a:solidFill>
                  <a:srgbClr val="1C2B27"/>
                </a:solidFill>
              </a:rPr>
              <a:t>Kuhn, M., és Johnson, K. (2013). Applied predictive modeling. Springer. https://doi.org/10.1007/978-1-4614-6849-3</a:t>
            </a:r>
          </a:p>
          <a:p>
            <a:endParaRPr sz="840">
              <a:solidFill>
                <a:srgbClr val="1C2B27"/>
              </a:solidFill>
            </a:endParaRPr>
          </a:p>
          <a:p>
            <a:pPr>
              <a:buNone/>
              <a:defRPr sz="840">
                <a:solidFill>
                  <a:srgbClr val="1C2B27"/>
                </a:solidFill>
              </a:defRPr>
            </a:pPr>
            <a:r>
              <a:rPr sz="840">
                <a:solidFill>
                  <a:srgbClr val="1C2B27"/>
                </a:solidFill>
              </a:rPr>
              <a:t>National Institute of Diabetes and Digestive and Kidney Diseases. (1990). Pima Indians Diabetes Database [Adatbázis]. UCI Machine Learning Repository. https://people.cs.georgetown.edu/~maloof/cosc388.f03/pima.names</a:t>
            </a:r>
          </a:p>
          <a:p>
            <a:endParaRPr sz="840">
              <a:solidFill>
                <a:srgbClr val="1C2B27"/>
              </a:solidFill>
            </a:endParaRPr>
          </a:p>
          <a:p>
            <a:pPr>
              <a:buNone/>
              <a:defRPr sz="840">
                <a:solidFill>
                  <a:srgbClr val="1C2B27"/>
                </a:solidFill>
              </a:defRPr>
            </a:pPr>
            <a:r>
              <a:rPr sz="840">
                <a:solidFill>
                  <a:srgbClr val="1C2B27"/>
                </a:solidFill>
              </a:rPr>
              <a:t>Pedregosa, F., Varoquaux, G., Gramfort, A., Michel, V., Thirion, B., Grisel, O., Blondel, M., Prettenhofer, P., Weiss, R., Dubourg, V., VanderPlas, J., Passos, A., Cournapeau, D., Brucher, M., Perrot, M., és Duchesnay, É. (2011). Scikit-learn: Machine learning in Python. Journal of Machine Learning Research, 12, 2825-2830. https://jmlr.org/papers/v12/pedregosa11a.html</a:t>
            </a:r>
          </a:p>
          <a:p>
            <a:endParaRPr sz="840">
              <a:solidFill>
                <a:srgbClr val="1C2B27"/>
              </a:solidFill>
            </a:endParaRPr>
          </a:p>
          <a:p>
            <a:pPr>
              <a:buNone/>
              <a:defRPr sz="840">
                <a:solidFill>
                  <a:srgbClr val="1C2B27"/>
                </a:solidFill>
              </a:defRPr>
            </a:pPr>
            <a:r>
              <a:rPr sz="840">
                <a:solidFill>
                  <a:srgbClr val="1C2B27"/>
                </a:solidFill>
              </a:rPr>
              <a:t>Schulz, L. O., Bennett, P. H., Ravussin, E., Kidd, J. R., Kidd, K. K., Esparza, J., és Valencia, M. E. (2006). Effects of traditional and western environments on prevalence of type 2 diabetes in Pima Indians in Mexico and the U.S. Diabetes Care, 29(8), 1866-1871. https://doi.org/10.2337/dc06-0138</a:t>
            </a:r>
          </a:p>
          <a:p>
            <a:endParaRPr sz="840">
              <a:solidFill>
                <a:srgbClr val="1C2B27"/>
              </a:solidFill>
            </a:endParaRPr>
          </a:p>
          <a:p>
            <a:pPr>
              <a:buNone/>
              <a:defRPr sz="840">
                <a:solidFill>
                  <a:srgbClr val="1C2B27"/>
                </a:solidFill>
              </a:defRPr>
            </a:pPr>
            <a:r>
              <a:rPr sz="840">
                <a:solidFill>
                  <a:srgbClr val="1C2B27"/>
                </a:solidFill>
              </a:rPr>
              <a:t>Smith, J. W., Everhart, J. E., Dickson, W. C., Knowler, W. C., és Johannes, R. S. (1988). Using the ADAP learning algorithm to forecast the onset of diabetes mellitus. In Proceedings of the Symposium on Computer Applications and Medical Care (pp. 261-265). IEEE Computer Society Press. https://pmc.ncbi.nlm.nih.gov/articles/PMC2245318/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7D006B-386A-4B9A-A95D-20147C27ECD7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687873"/>
                </a:solidFill>
              </a:defRPr>
            </a:pPr>
            <a:r>
              <a:rPr sz="900" b="1" dirty="0">
                <a:solidFill>
                  <a:srgbClr val="687873"/>
                </a:solidFill>
              </a:rPr>
              <a:t>1</a:t>
            </a:r>
            <a:r>
              <a:rPr lang="hu-HU" sz="900" b="1" dirty="0">
                <a:solidFill>
                  <a:srgbClr val="687873"/>
                </a:solidFill>
              </a:rPr>
              <a:t>3</a:t>
            </a:r>
            <a:endParaRPr sz="900" b="1" dirty="0">
              <a:solidFill>
                <a:srgbClr val="6878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068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1266</Words>
  <Application>Microsoft Macintosh PowerPoint</Application>
  <DocSecurity>0</DocSecurity>
  <PresentationFormat>Widescreen</PresentationFormat>
  <Paragraphs>194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Medvegy Gábor</cp:lastModifiedBy>
  <cp:revision>15</cp:revision>
  <dcterms:created xsi:type="dcterms:W3CDTF">2026-06-20T14:09:37Z</dcterms:created>
  <dcterms:modified xsi:type="dcterms:W3CDTF">2026-06-21T21:04:22Z</dcterms:modified>
</cp:coreProperties>
</file>